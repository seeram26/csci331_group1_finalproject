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1" r:id="rId1"/>
  </p:sldMasterIdLst>
  <p:sldIdLst>
    <p:sldId id="256" r:id="rId2"/>
    <p:sldId id="257" r:id="rId3"/>
    <p:sldId id="272" r:id="rId4"/>
    <p:sldId id="270" r:id="rId5"/>
    <p:sldId id="273" r:id="rId6"/>
    <p:sldId id="269" r:id="rId7"/>
    <p:sldId id="258" r:id="rId8"/>
    <p:sldId id="259" r:id="rId9"/>
    <p:sldId id="262" r:id="rId10"/>
    <p:sldId id="263" r:id="rId11"/>
    <p:sldId id="264" r:id="rId12"/>
    <p:sldId id="265" r:id="rId13"/>
    <p:sldId id="291" r:id="rId14"/>
    <p:sldId id="290" r:id="rId15"/>
    <p:sldId id="285" r:id="rId16"/>
    <p:sldId id="283" r:id="rId17"/>
    <p:sldId id="292" r:id="rId18"/>
    <p:sldId id="286" r:id="rId19"/>
    <p:sldId id="279" r:id="rId20"/>
    <p:sldId id="287" r:id="rId21"/>
    <p:sldId id="288" r:id="rId22"/>
    <p:sldId id="282" r:id="rId23"/>
    <p:sldId id="281" r:id="rId24"/>
    <p:sldId id="280" r:id="rId25"/>
    <p:sldId id="274" r:id="rId26"/>
    <p:sldId id="275" r:id="rId27"/>
    <p:sldId id="278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DEDE"/>
    <a:srgbClr val="CACA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255F6F-69C9-10B4-99BB-93BFAD5CAF4E}" v="1170" dt="2025-12-15T05:22:02.685"/>
    <p1510:client id="{51B25973-7E11-B0CE-BF4C-9A634ADD84C8}" v="218" dt="2025-12-15T03:52:09.752"/>
    <p1510:client id="{5993DBAD-375E-6E98-ABF0-8C9BD2A1B204}" v="77" dt="2025-12-15T04:15:12.718"/>
    <p1510:client id="{65BD11C3-8BFD-4C57-AFDB-217F626252F2}" v="4" dt="2025-12-13T21:31:42.701"/>
    <p1510:client id="{66FB8958-7D74-D723-CC6E-A46395C67F69}" v="4199" dt="2025-12-15T05:10:59.694"/>
    <p1510:client id="{924B275D-F838-27C2-26B4-1BF0521316EB}" v="227" dt="2025-12-15T05:21:40.342"/>
    <p1510:client id="{F681E046-8BAE-0220-9C14-570E5B6CCE56}" v="232" dt="2025-12-15T04:42:59.460"/>
    <p1510:client id="{FC9E6616-BBD9-B774-E2B8-01678464DC4B}" v="4" dt="2025-12-15T03:26:40.0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689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518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195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4162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62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076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739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01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460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0240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6470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957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64" r:id="rId6"/>
    <p:sldLayoutId id="2147483860" r:id="rId7"/>
    <p:sldLayoutId id="2147483861" r:id="rId8"/>
    <p:sldLayoutId id="2147483862" r:id="rId9"/>
    <p:sldLayoutId id="2147483863" r:id="rId10"/>
    <p:sldLayoutId id="214748386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6B9231A-B34B-4A29-A6AC-532E1EE815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n abstract genetic concept">
            <a:extLst>
              <a:ext uri="{FF2B5EF4-FFF2-40B4-BE49-F238E27FC236}">
                <a16:creationId xmlns:a16="http://schemas.microsoft.com/office/drawing/2014/main" id="{F854B838-E28F-80EC-884D-609D2EAF239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t="26059" r="9091" b="22805"/>
          <a:stretch>
            <a:fillRect/>
          </a:stretch>
        </p:blipFill>
        <p:spPr>
          <a:xfrm>
            <a:off x="20" y="152"/>
            <a:ext cx="12191980" cy="68578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197B04E-995C-1800-E16E-793CC261FC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564128"/>
            <a:ext cx="8094759" cy="3355853"/>
          </a:xfrm>
        </p:spPr>
        <p:txBody>
          <a:bodyPr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Queens College Semester Course Database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EE37FE-519C-ACCE-72AA-C4842E481F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1621"/>
            <a:ext cx="10225104" cy="1104721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 Ridhwan </a:t>
            </a:r>
            <a:r>
              <a:rPr lang="en-US" err="1">
                <a:solidFill>
                  <a:srgbClr val="FFFFFF"/>
                </a:solidFill>
              </a:rPr>
              <a:t>ibrahim</a:t>
            </a:r>
            <a:r>
              <a:rPr lang="en-US">
                <a:solidFill>
                  <a:srgbClr val="FFFFFF"/>
                </a:solidFill>
              </a:rPr>
              <a:t>, </a:t>
            </a:r>
            <a:r>
              <a:rPr lang="en-US" err="1">
                <a:solidFill>
                  <a:srgbClr val="FFFFFF"/>
                </a:solidFill>
              </a:rPr>
              <a:t>youlun</a:t>
            </a:r>
            <a:r>
              <a:rPr lang="en-US">
                <a:solidFill>
                  <a:srgbClr val="FFFFFF"/>
                </a:solidFill>
              </a:rPr>
              <a:t> wang, </a:t>
            </a:r>
            <a:r>
              <a:rPr lang="en-US" err="1">
                <a:solidFill>
                  <a:srgbClr val="FFFFFF"/>
                </a:solidFill>
              </a:rPr>
              <a:t>giorgos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err="1">
                <a:solidFill>
                  <a:srgbClr val="FFFFFF"/>
                </a:solidFill>
              </a:rPr>
              <a:t>stephanis</a:t>
            </a:r>
            <a:r>
              <a:rPr lang="en-US">
                <a:solidFill>
                  <a:srgbClr val="FFFFFF"/>
                </a:solidFill>
              </a:rPr>
              <a:t>, </a:t>
            </a:r>
            <a:r>
              <a:rPr lang="en-US" err="1">
                <a:solidFill>
                  <a:srgbClr val="FFFFFF"/>
                </a:solidFill>
              </a:rPr>
              <a:t>seeram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err="1">
                <a:solidFill>
                  <a:srgbClr val="FFFFFF"/>
                </a:solidFill>
              </a:rPr>
              <a:t>govindan</a:t>
            </a:r>
            <a:r>
              <a:rPr lang="en-US">
                <a:solidFill>
                  <a:srgbClr val="FFFFFF"/>
                </a:solidFill>
              </a:rPr>
              <a:t>, </a:t>
            </a:r>
            <a:r>
              <a:rPr lang="en-US" err="1">
                <a:solidFill>
                  <a:srgbClr val="FFFFFF"/>
                </a:solidFill>
              </a:rPr>
              <a:t>hasan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err="1">
                <a:solidFill>
                  <a:srgbClr val="FFFFFF"/>
                </a:solidFill>
              </a:rPr>
              <a:t>husseini</a:t>
            </a:r>
            <a:r>
              <a:rPr lang="en-US">
                <a:solidFill>
                  <a:srgbClr val="FFFFFF"/>
                </a:solidFill>
              </a:rPr>
              <a:t>, </a:t>
            </a:r>
            <a:r>
              <a:rPr lang="en-US" err="1">
                <a:solidFill>
                  <a:srgbClr val="FFFFFF"/>
                </a:solidFill>
              </a:rPr>
              <a:t>michael</a:t>
            </a:r>
            <a:r>
              <a:rPr lang="en-US">
                <a:solidFill>
                  <a:srgbClr val="FFFFFF"/>
                </a:solidFill>
              </a:rPr>
              <a:t> </a:t>
            </a:r>
            <a:r>
              <a:rPr lang="en-US" err="1">
                <a:solidFill>
                  <a:srgbClr val="FFFFFF"/>
                </a:solidFill>
              </a:rPr>
              <a:t>cipriani</a:t>
            </a:r>
            <a:endParaRPr lang="en-US" err="1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0CE0765-E93C-4D37-9D5F-D464EFB10F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95436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6178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C685A-2FFA-782F-9B43-10A3814DD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05" y="178469"/>
            <a:ext cx="10890929" cy="1097280"/>
          </a:xfrm>
        </p:spPr>
        <p:txBody>
          <a:bodyPr/>
          <a:lstStyle/>
          <a:p>
            <a:r>
              <a:rPr lang="en-US"/>
              <a:t>Project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77517-3D2E-86BC-9E2C-A6B3D16E9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06" y="1350105"/>
            <a:ext cx="10890928" cy="53269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Transform source data From </a:t>
            </a:r>
            <a:r>
              <a:rPr lang="en-US" err="1"/>
              <a:t>Uploadfile.CurrentSemesterCourseOfferings</a:t>
            </a:r>
            <a:r>
              <a:rPr lang="en-US"/>
              <a:t> table into a Normalized database</a:t>
            </a:r>
          </a:p>
          <a:p>
            <a:r>
              <a:rPr lang="en-US"/>
              <a:t>Data Modeling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Analyze the source table to identify data anomalies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Identify the entities and attributes and any relationships 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Normalize to 3NF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ERD diagram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Determine organizational schemas and create </a:t>
            </a:r>
            <a:r>
              <a:rPr lang="en-US" err="1"/>
              <a:t>Udts</a:t>
            </a:r>
            <a:endParaRPr lang="en-US"/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Create tables</a:t>
            </a:r>
          </a:p>
          <a:p>
            <a:r>
              <a:rPr lang="en-US"/>
              <a:t>ETL workflow using </a:t>
            </a:r>
            <a:r>
              <a:rPr lang="en-US" err="1"/>
              <a:t>StoreProcedures</a:t>
            </a:r>
          </a:p>
          <a:p>
            <a:r>
              <a:rPr lang="en-US"/>
              <a:t>Generate propositions that showcase design choices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766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D16C73-FE6A-3E7C-1337-B12D2F3B8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B773B-14F7-3051-0F93-2B523804D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05" y="178469"/>
            <a:ext cx="10890929" cy="1097280"/>
          </a:xfrm>
        </p:spPr>
        <p:txBody>
          <a:bodyPr/>
          <a:lstStyle/>
          <a:p>
            <a:r>
              <a:rPr lang="en-US"/>
              <a:t>Analyzing Source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FC06A-2A4D-90E3-F139-EA1F647466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06" y="1350105"/>
            <a:ext cx="10890928" cy="4849527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,Sans-Serif" panose="020B0604020202020204" pitchFamily="34" charset="0"/>
            </a:pPr>
            <a:r>
              <a:rPr lang="en-US"/>
              <a:t>At first glance there were many missing values in different columns </a:t>
            </a:r>
          </a:p>
          <a:p>
            <a:pPr>
              <a:buFont typeface="Arial,Sans-Serif" panose="020B0604020202020204" pitchFamily="34" charset="0"/>
              <a:buChar char="•"/>
            </a:pPr>
            <a:r>
              <a:rPr lang="en-US"/>
              <a:t>Certain columns like Course (</a:t>
            </a:r>
            <a:r>
              <a:rPr lang="en-US" err="1"/>
              <a:t>hr</a:t>
            </a:r>
            <a:r>
              <a:rPr lang="en-US"/>
              <a:t>, </a:t>
            </a:r>
            <a:r>
              <a:rPr lang="en-US" err="1"/>
              <a:t>crd</a:t>
            </a:r>
            <a:r>
              <a:rPr lang="en-US"/>
              <a:t>) were non-atomic and could be split into further attributes</a:t>
            </a:r>
          </a:p>
          <a:p>
            <a:pPr>
              <a:buFont typeface="Arial,Sans-Serif" panose="020B0604020202020204" pitchFamily="34" charset="0"/>
              <a:buChar char="•"/>
            </a:pPr>
            <a:r>
              <a:rPr lang="en-US"/>
              <a:t>Ex: </a:t>
            </a:r>
            <a:r>
              <a:rPr lang="en-US" b="1"/>
              <a:t>ACCT 100 (3, 3)</a:t>
            </a:r>
            <a:r>
              <a:rPr lang="en-US"/>
              <a:t> contained </a:t>
            </a:r>
            <a:r>
              <a:rPr lang="en-US" err="1"/>
              <a:t>DepartmentCode</a:t>
            </a:r>
            <a:r>
              <a:rPr lang="en-US"/>
              <a:t>, </a:t>
            </a:r>
            <a:r>
              <a:rPr lang="en-US" err="1"/>
              <a:t>CourseCode</a:t>
            </a:r>
            <a:r>
              <a:rPr lang="en-US"/>
              <a:t>, </a:t>
            </a:r>
            <a:r>
              <a:rPr lang="en-US" err="1"/>
              <a:t>CreditHours</a:t>
            </a:r>
            <a:r>
              <a:rPr lang="en-US"/>
              <a:t>, and </a:t>
            </a:r>
            <a:r>
              <a:rPr lang="en-US" err="1"/>
              <a:t>ContactHours</a:t>
            </a:r>
            <a:endParaRPr lang="en-US"/>
          </a:p>
          <a:p>
            <a:pPr>
              <a:buFont typeface="Arial,Sans-Serif" panose="020B0604020202020204" pitchFamily="34" charset="0"/>
            </a:pPr>
            <a:r>
              <a:rPr lang="en-US"/>
              <a:t>There were also multiple values in fields</a:t>
            </a:r>
          </a:p>
          <a:p>
            <a:pPr>
              <a:buFont typeface="Arial,Sans-Serif" panose="020B0604020202020204" pitchFamily="34" charset="0"/>
            </a:pPr>
            <a:r>
              <a:rPr lang="en-US"/>
              <a:t>Ex: Day contained multiple values for different Meeting days</a:t>
            </a:r>
          </a:p>
          <a:p>
            <a:pPr>
              <a:buFont typeface="Arial,Sans-Serif" panose="020B0604020202020204" pitchFamily="34" charset="0"/>
            </a:pPr>
            <a:r>
              <a:rPr lang="en-US"/>
              <a:t>Values contained decimals, (credit hour for example).</a:t>
            </a:r>
          </a:p>
          <a:p>
            <a:pPr>
              <a:buFont typeface="Arial,Sans-Serif" panose="020B0604020202020204" pitchFamily="34" charset="0"/>
            </a:pPr>
            <a:r>
              <a:rPr lang="en-US"/>
              <a:t>Large number of contact hours (SPAN 398 (135, 3) which needed to be fixed</a:t>
            </a:r>
          </a:p>
          <a:p>
            <a:r>
              <a:rPr lang="en-US"/>
              <a:t>Number of Enrolled people was greater than the </a:t>
            </a:r>
            <a:r>
              <a:rPr lang="en-US" err="1"/>
              <a:t>EnrollmentLimit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2470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C9A4C6-DF22-23B4-8953-2BD1D2139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7B0AF-2B0D-5A3A-F15C-2557558D8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05" y="178469"/>
            <a:ext cx="10890929" cy="1097280"/>
          </a:xfrm>
        </p:spPr>
        <p:txBody>
          <a:bodyPr/>
          <a:lstStyle/>
          <a:p>
            <a:r>
              <a:rPr lang="en-US"/>
              <a:t>Entity Identification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54A6A-80A3-A88B-FBAD-DEB852698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06" y="1269894"/>
            <a:ext cx="11151612" cy="520044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/>
              <a:t>Determined the Entities in the DB</a:t>
            </a:r>
          </a:p>
          <a:p>
            <a:pPr marL="493395" lvl="1"/>
            <a:r>
              <a:rPr lang="en-US"/>
              <a:t>Department – Represents an academic unit responsible for courses</a:t>
            </a:r>
          </a:p>
          <a:p>
            <a:pPr marL="493395" lvl="1">
              <a:buFont typeface="Arial"/>
              <a:buChar char="•"/>
            </a:pPr>
            <a:r>
              <a:rPr lang="en-US"/>
              <a:t>Course – Represents a catalog-level course </a:t>
            </a:r>
          </a:p>
          <a:p>
            <a:pPr marL="493395" lvl="1">
              <a:buFont typeface="Arial"/>
              <a:buChar char="•"/>
            </a:pPr>
            <a:r>
              <a:rPr lang="en-US"/>
              <a:t>Instructor – Represents the person teaching one or more classes</a:t>
            </a:r>
          </a:p>
          <a:p>
            <a:pPr marL="493395" lvl="1">
              <a:buFont typeface="Arial"/>
              <a:buChar char="•"/>
            </a:pPr>
            <a:r>
              <a:rPr lang="en-US" err="1"/>
              <a:t>InstructorDepartment</a:t>
            </a:r>
            <a:r>
              <a:rPr lang="en-US"/>
              <a:t> – Represents the Department associated with an instructor</a:t>
            </a:r>
          </a:p>
          <a:p>
            <a:pPr marL="493395" lvl="1">
              <a:buFont typeface="Arial"/>
              <a:buChar char="•"/>
            </a:pPr>
            <a:r>
              <a:rPr lang="en-US"/>
              <a:t>Building - R</a:t>
            </a:r>
            <a:r>
              <a:rPr lang="en-US">
                <a:ea typeface="+mn-lt"/>
                <a:cs typeface="+mn-lt"/>
              </a:rPr>
              <a:t>epresents a campus building identified by a building code.</a:t>
            </a:r>
          </a:p>
          <a:p>
            <a:pPr marL="493395" lvl="1">
              <a:buFont typeface="Arial"/>
              <a:buChar char="•"/>
            </a:pPr>
            <a:r>
              <a:rPr lang="en-US"/>
              <a:t>Room - Specific Room within a building</a:t>
            </a:r>
          </a:p>
          <a:p>
            <a:pPr marL="493395" lvl="1">
              <a:buFont typeface="Arial"/>
              <a:buChar char="•"/>
            </a:pPr>
            <a:r>
              <a:rPr lang="en-US" err="1"/>
              <a:t>ModeOfInstruction</a:t>
            </a:r>
            <a:r>
              <a:rPr lang="en-US"/>
              <a:t> - Class delivery method (In-Person, Online)</a:t>
            </a:r>
          </a:p>
          <a:p>
            <a:pPr marL="493395" lvl="1">
              <a:buFont typeface="Arial"/>
              <a:buChar char="•"/>
            </a:pPr>
            <a:r>
              <a:rPr lang="en-US" err="1"/>
              <a:t>Class,ClassMeeting</a:t>
            </a:r>
            <a:r>
              <a:rPr lang="en-US"/>
              <a:t> - Scheduled meeting occurrence for a class</a:t>
            </a:r>
          </a:p>
          <a:p>
            <a:pPr marL="264795" lvl="1" indent="0">
              <a:buNone/>
            </a:pPr>
            <a:endParaRPr lang="en-US"/>
          </a:p>
          <a:p>
            <a:pPr>
              <a:buFont typeface="Arial,Sans-Serif"/>
              <a:buChar char="•"/>
            </a:pPr>
            <a:endParaRPr lang="en-US" sz="1700"/>
          </a:p>
          <a:p>
            <a:pPr marL="0" indent="0">
              <a:buNone/>
            </a:pPr>
            <a:endParaRPr lang="en-US"/>
          </a:p>
          <a:p>
            <a:pPr>
              <a:buFont typeface="Arial"/>
              <a:buChar char="•"/>
            </a:pPr>
            <a:endParaRPr lang="en-US"/>
          </a:p>
          <a:p>
            <a:pPr marL="493395" lvl="1">
              <a:buFont typeface="Arial"/>
              <a:buChar char="•"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396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A220E1-5C43-9251-E7F2-89E71423E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DA82C-92CC-1726-0E5B-B0EA126FF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05" y="178469"/>
            <a:ext cx="10890929" cy="1097280"/>
          </a:xfrm>
        </p:spPr>
        <p:txBody>
          <a:bodyPr/>
          <a:lstStyle/>
          <a:p>
            <a:r>
              <a:rPr lang="en-US"/>
              <a:t>Understanding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12EC5-AEC2-FF4E-A373-D62805323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06" y="1269894"/>
            <a:ext cx="11151612" cy="520044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/>
              <a:t>Identified how each entity relate to one another</a:t>
            </a:r>
          </a:p>
          <a:p>
            <a:pPr>
              <a:buFont typeface="Arial"/>
              <a:buChar char="•"/>
            </a:pPr>
            <a:r>
              <a:rPr lang="en-US"/>
              <a:t>Class represents a scheduled offering of a course, and depends on several parent entities </a:t>
            </a:r>
          </a:p>
          <a:p>
            <a:pPr marL="493395" lvl="1">
              <a:buFont typeface="Courier New"/>
              <a:buChar char="o"/>
            </a:pPr>
            <a:r>
              <a:rPr lang="en-US"/>
              <a:t>Including Course, instructor, Room and mode of instruction</a:t>
            </a:r>
          </a:p>
          <a:p>
            <a:pPr>
              <a:buFont typeface="Arial,Sans-Serif"/>
              <a:buChar char="•"/>
            </a:pPr>
            <a:r>
              <a:rPr lang="en-US" sz="1700"/>
              <a:t>Understand the relationships between entities</a:t>
            </a:r>
          </a:p>
          <a:p>
            <a:pPr marL="493395" lvl="1">
              <a:buFont typeface="Courier New,monospace"/>
              <a:buChar char="o"/>
            </a:pPr>
            <a:r>
              <a:rPr lang="en-US" sz="1500"/>
              <a:t>1 Department -&gt; Many Courses</a:t>
            </a:r>
          </a:p>
          <a:p>
            <a:pPr marL="493395" lvl="1">
              <a:buFont typeface="Courier New,monospace"/>
              <a:buChar char="o"/>
            </a:pPr>
            <a:r>
              <a:rPr lang="en-US" sz="1500"/>
              <a:t>1 Building -&gt; Many Rooms</a:t>
            </a:r>
          </a:p>
          <a:p>
            <a:pPr marL="493395" lvl="1">
              <a:buFont typeface="Courier New,monospace"/>
              <a:buChar char="o"/>
            </a:pPr>
            <a:r>
              <a:rPr lang="en-US" sz="1500"/>
              <a:t>1 Course -&gt; Many class offerings</a:t>
            </a:r>
          </a:p>
          <a:p>
            <a:pPr marL="493395" lvl="1">
              <a:buFont typeface="Courier New,monospace"/>
              <a:buChar char="o"/>
            </a:pPr>
            <a:r>
              <a:rPr lang="en-US" sz="1500"/>
              <a:t>1 Instructor -&gt; Many Classes </a:t>
            </a:r>
          </a:p>
          <a:p>
            <a:pPr marL="493395" lvl="1">
              <a:buFont typeface="Courier New,monospace"/>
              <a:buChar char="o"/>
            </a:pPr>
            <a:r>
              <a:rPr lang="en-US" sz="1500"/>
              <a:t>1 </a:t>
            </a:r>
            <a:r>
              <a:rPr lang="en-US" sz="1500" err="1"/>
              <a:t>ModeOfInstruction</a:t>
            </a:r>
            <a:r>
              <a:rPr lang="en-US" sz="1500"/>
              <a:t> -&gt; Many Classes</a:t>
            </a:r>
          </a:p>
          <a:p>
            <a:pPr marL="493395" lvl="1">
              <a:buFont typeface="Courier New,monospace"/>
              <a:buChar char="o"/>
            </a:pPr>
            <a:r>
              <a:rPr lang="en-US" sz="1500"/>
              <a:t>1 Room -&gt; Many classes</a:t>
            </a:r>
          </a:p>
          <a:p>
            <a:pPr marL="493395" lvl="1">
              <a:buFont typeface="Courier New,monospace"/>
              <a:buChar char="o"/>
            </a:pPr>
            <a:r>
              <a:rPr lang="en-US" sz="1500"/>
              <a:t>1 Class -&gt; Many Class Meetings</a:t>
            </a:r>
            <a:endParaRPr lang="en-US"/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endParaRPr lang="en-US"/>
          </a:p>
          <a:p>
            <a:pPr marL="264795" lvl="1" indent="0">
              <a:buNone/>
            </a:pPr>
            <a:endParaRPr lang="en-US"/>
          </a:p>
          <a:p>
            <a:pPr>
              <a:buFont typeface="Arial"/>
              <a:buChar char="•"/>
            </a:pPr>
            <a:endParaRPr lang="en-US"/>
          </a:p>
          <a:p>
            <a:pPr marL="493395" lvl="1">
              <a:buFont typeface="Courier New"/>
              <a:buChar char="o"/>
            </a:pPr>
            <a:endParaRPr lang="en-US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5155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231D1A-AF2B-DE2A-03A5-022A05DEC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EBBAEC-8334-37FC-D568-2B15BF6E4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05" y="178469"/>
            <a:ext cx="10890929" cy="1097280"/>
          </a:xfrm>
        </p:spPr>
        <p:txBody>
          <a:bodyPr/>
          <a:lstStyle/>
          <a:p>
            <a:r>
              <a:rPr lang="en-US"/>
              <a:t>Normalizing the Data 1NF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CC233E-4DBC-77CD-0373-1D819235E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06" y="1269894"/>
            <a:ext cx="11151612" cy="5160343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/>
              <a:buChar char="•"/>
            </a:pPr>
            <a:r>
              <a:rPr lang="en-US"/>
              <a:t>At this stage we need to ensure atomic values </a:t>
            </a:r>
          </a:p>
          <a:p>
            <a:pPr>
              <a:buFont typeface="Arial"/>
              <a:buChar char="•"/>
            </a:pPr>
            <a:r>
              <a:rPr lang="en-US"/>
              <a:t>The attributes of each entity</a:t>
            </a:r>
          </a:p>
          <a:p>
            <a:pPr marL="493395" lvl="1">
              <a:buFont typeface="Courier New,monospace"/>
              <a:buChar char="o"/>
            </a:pPr>
            <a:r>
              <a:rPr lang="en-US" sz="2000"/>
              <a:t>Ex: [Course (</a:t>
            </a:r>
            <a:r>
              <a:rPr lang="en-US" sz="2000" err="1"/>
              <a:t>hr</a:t>
            </a:r>
            <a:r>
              <a:rPr lang="en-US" sz="2000"/>
              <a:t>, </a:t>
            </a:r>
            <a:r>
              <a:rPr lang="en-US" sz="2000" err="1"/>
              <a:t>crd</a:t>
            </a:r>
            <a:r>
              <a:rPr lang="en-US" sz="2000"/>
              <a:t>)] was decomposed to Department + </a:t>
            </a:r>
            <a:r>
              <a:rPr lang="en-US" sz="2000" err="1"/>
              <a:t>CourseNumber</a:t>
            </a:r>
            <a:r>
              <a:rPr lang="en-US" sz="2000"/>
              <a:t> + </a:t>
            </a:r>
            <a:r>
              <a:rPr lang="en-US" sz="2000" err="1"/>
              <a:t>CreditHours</a:t>
            </a:r>
            <a:r>
              <a:rPr lang="en-US" sz="2000"/>
              <a:t> + </a:t>
            </a:r>
            <a:r>
              <a:rPr lang="en-US" sz="2000" err="1"/>
              <a:t>ContactHours</a:t>
            </a:r>
            <a:endParaRPr lang="en-US" sz="2000"/>
          </a:p>
          <a:p>
            <a:pPr marL="493395" lvl="1">
              <a:buFont typeface="Courier New,monospace"/>
              <a:buChar char="o"/>
            </a:pPr>
            <a:r>
              <a:rPr lang="en-US" sz="2000"/>
              <a:t>[Instructor] -&gt; became FirstName + LastName + </a:t>
            </a:r>
            <a:r>
              <a:rPr lang="en-US" sz="2000" err="1"/>
              <a:t>FullName</a:t>
            </a:r>
            <a:r>
              <a:rPr lang="en-US" sz="2000"/>
              <a:t> </a:t>
            </a:r>
          </a:p>
          <a:p>
            <a:pPr marL="493395" lvl="1">
              <a:buFont typeface="Courier New,monospace"/>
              <a:buChar char="o"/>
            </a:pPr>
            <a:r>
              <a:rPr lang="en-US" sz="2000"/>
              <a:t>Location -&gt; </a:t>
            </a:r>
            <a:r>
              <a:rPr lang="en-US" sz="2000" err="1"/>
              <a:t>BuildingCode</a:t>
            </a:r>
            <a:r>
              <a:rPr lang="en-US" sz="2000"/>
              <a:t> + </a:t>
            </a:r>
            <a:r>
              <a:rPr lang="en-US" sz="2000" err="1"/>
              <a:t>RoomNumber</a:t>
            </a:r>
            <a:endParaRPr lang="en-US" sz="2000"/>
          </a:p>
          <a:p>
            <a:pPr marL="493395" lvl="1">
              <a:buFont typeface="Courier New,monospace"/>
              <a:buChar char="o"/>
            </a:pPr>
            <a:r>
              <a:rPr lang="en-US" sz="2000"/>
              <a:t>Day and Time -&gt; was normalized to </a:t>
            </a:r>
            <a:r>
              <a:rPr lang="en-US" sz="2000" err="1"/>
              <a:t>DayOfWeek</a:t>
            </a:r>
            <a:r>
              <a:rPr lang="en-US" sz="2000"/>
              <a:t> + </a:t>
            </a:r>
            <a:r>
              <a:rPr lang="en-US" sz="2000" err="1"/>
              <a:t>StartTime</a:t>
            </a:r>
            <a:r>
              <a:rPr lang="en-US" sz="2000"/>
              <a:t> + </a:t>
            </a:r>
            <a:r>
              <a:rPr lang="en-US" sz="2000" err="1"/>
              <a:t>EndTime</a:t>
            </a:r>
            <a:endParaRPr lang="en-US" sz="2000"/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endParaRPr lang="en-US"/>
          </a:p>
          <a:p>
            <a:pPr>
              <a:buFont typeface="Arial"/>
              <a:buChar char="•"/>
            </a:pPr>
            <a:endParaRPr lang="en-US"/>
          </a:p>
          <a:p>
            <a:pPr marL="493395" lvl="1">
              <a:buFont typeface="Courier New"/>
              <a:buChar char="o"/>
            </a:pPr>
            <a:endParaRPr lang="en-US" sz="2000"/>
          </a:p>
          <a:p>
            <a:pPr marL="0" indent="0">
              <a:buNone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09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3DB49C-A6B2-783E-DFE8-18046BDB7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39793-0F42-0E37-F90E-7566D2E39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05" y="178469"/>
            <a:ext cx="10890929" cy="1097280"/>
          </a:xfrm>
        </p:spPr>
        <p:txBody>
          <a:bodyPr/>
          <a:lstStyle/>
          <a:p>
            <a:r>
              <a:rPr lang="en-US"/>
              <a:t>Normalizing the Data 3NF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FD603-6BF5-6359-27B8-5C3B80850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06" y="1129526"/>
            <a:ext cx="10890928" cy="53307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Identified transitive dependencies where non-key attributes depended on other non-key attributes</a:t>
            </a:r>
          </a:p>
          <a:p>
            <a:r>
              <a:rPr lang="en-US"/>
              <a:t>Removed transitive dependencies by creating separate tables: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sz="2000" err="1"/>
              <a:t>BuildingCode</a:t>
            </a:r>
            <a:r>
              <a:rPr lang="en-US" sz="2000"/>
              <a:t> in source table moved to Building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sz="2000" err="1"/>
              <a:t>InstructionMode</a:t>
            </a:r>
            <a:r>
              <a:rPr lang="en-US" sz="2000"/>
              <a:t> in source table moved to </a:t>
            </a:r>
            <a:r>
              <a:rPr lang="en-US" sz="2000" err="1"/>
              <a:t>ModeOfInstruction</a:t>
            </a:r>
            <a:endParaRPr lang="en-US" sz="2000"/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sz="2000"/>
              <a:t>Instructor attributes moved exclusively to the Instructor table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931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86E151-D766-D25F-9EF6-9AE2640D0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1E92A-F932-BA5E-512B-8A505DCE6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05" y="178469"/>
            <a:ext cx="10890929" cy="1097280"/>
          </a:xfrm>
        </p:spPr>
        <p:txBody>
          <a:bodyPr/>
          <a:lstStyle/>
          <a:p>
            <a:r>
              <a:rPr lang="en-US"/>
              <a:t>Resolving Many to Many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1EA39-0C0B-49CB-C3C9-56447915D2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06" y="1590736"/>
            <a:ext cx="10890928" cy="4608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We identified a M:N relationship between Instructor and Department. One instructor can be affiliated with multiple departments, and One department can have multiple instructors.</a:t>
            </a:r>
          </a:p>
          <a:p>
            <a:r>
              <a:rPr lang="en-US"/>
              <a:t>To resolve this M:M relationship we needed to create a bridge entity </a:t>
            </a:r>
            <a:r>
              <a:rPr lang="en-US" err="1"/>
              <a:t>InstructorDepartments</a:t>
            </a:r>
            <a:r>
              <a:rPr lang="en-US"/>
              <a:t> where it contains the foreign keys from both Instructors and Departments tables </a:t>
            </a:r>
          </a:p>
          <a:p>
            <a:r>
              <a:rPr lang="en-US"/>
              <a:t>Each row represents an instructor's affiliation with specific department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032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D6FFB6-3C9F-A14E-4D01-0EAFB82D8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38093B-E53C-942F-B170-781AE6DCD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378" y="0"/>
            <a:ext cx="1014924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714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B5C213-2CE0-AEBC-1FDB-B1DDC9B4B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0D381-4CE3-9E38-3FE7-0A3609B1E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05" y="178469"/>
            <a:ext cx="10890929" cy="1097280"/>
          </a:xfrm>
        </p:spPr>
        <p:txBody>
          <a:bodyPr/>
          <a:lstStyle/>
          <a:p>
            <a:r>
              <a:rPr lang="en-US"/>
              <a:t>Schema Organization  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C3F3DE-3CDF-2475-5FD5-B31EAC7791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06" y="1590736"/>
            <a:ext cx="10890928" cy="4608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We used schemas to separate tables by function and responsibility.</a:t>
            </a:r>
          </a:p>
          <a:p>
            <a:r>
              <a:rPr lang="en-US"/>
              <a:t>The main schemas include: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err="1"/>
              <a:t>AcademicInformation</a:t>
            </a:r>
            <a:r>
              <a:rPr lang="en-US"/>
              <a:t> – Contains academic and schedule entities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Faculty – Contains instructor and their departmental </a:t>
            </a:r>
            <a:r>
              <a:rPr lang="en-US" err="1"/>
              <a:t>affliation</a:t>
            </a:r>
            <a:r>
              <a:rPr lang="en-US"/>
              <a:t> data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err="1"/>
              <a:t>OrganizationalInformation</a:t>
            </a:r>
            <a:r>
              <a:rPr lang="en-US"/>
              <a:t> – Represents academic structure of Queens college. Ex, Department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err="1"/>
              <a:t>LocationInformation</a:t>
            </a:r>
            <a:r>
              <a:rPr lang="en-US"/>
              <a:t> – Contains physical location data. For example, building and room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err="1"/>
              <a:t>ReferenceInformation</a:t>
            </a:r>
            <a:r>
              <a:rPr lang="en-US"/>
              <a:t> – Contains lookup/reference values for example, </a:t>
            </a:r>
            <a:r>
              <a:rPr lang="en-US" err="1"/>
              <a:t>ModeOfInstruction</a:t>
            </a:r>
            <a:endParaRPr lang="en-US"/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 err="1"/>
              <a:t>DbSecurity</a:t>
            </a:r>
            <a:r>
              <a:rPr lang="en-US"/>
              <a:t> – </a:t>
            </a:r>
            <a:r>
              <a:rPr lang="en-US" err="1"/>
              <a:t>DbSecurity</a:t>
            </a:r>
            <a:r>
              <a:rPr lang="en-US"/>
              <a:t> schema</a:t>
            </a:r>
          </a:p>
          <a:p>
            <a:pPr marL="493395" lvl="1">
              <a:buFont typeface="Courier New" panose="020B0604020202020204" pitchFamily="34" charset="0"/>
              <a:buChar char="o"/>
            </a:pPr>
            <a:r>
              <a:rPr lang="en-US"/>
              <a:t>Process – Workflow schema</a:t>
            </a:r>
          </a:p>
          <a:p>
            <a:r>
              <a:rPr lang="en-US"/>
              <a:t>This structure allowed us to organize the data conceptually and define the business glossary domains.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687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E762BF-133B-B293-F85E-9C10E619FD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AFA92-03BB-033C-DA4E-040876C9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05" y="178469"/>
            <a:ext cx="10890929" cy="1097280"/>
          </a:xfrm>
        </p:spPr>
        <p:txBody>
          <a:bodyPr/>
          <a:lstStyle/>
          <a:p>
            <a:r>
              <a:rPr lang="en-US"/>
              <a:t>UDTs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748D2-2B7D-8172-8471-4E5465F09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06" y="1278592"/>
            <a:ext cx="10890928" cy="4921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User Defined Data Types were created to standardize column definitions across the database.</a:t>
            </a:r>
          </a:p>
          <a:p>
            <a:r>
              <a:rPr lang="en-US"/>
              <a:t>Core UDTs such as </a:t>
            </a:r>
            <a:r>
              <a:rPr lang="en-US" err="1"/>
              <a:t>SurrogateKeyInt</a:t>
            </a:r>
            <a:r>
              <a:rPr lang="en-US"/>
              <a:t>, </a:t>
            </a:r>
            <a:r>
              <a:rPr lang="en-US" err="1"/>
              <a:t>DateAdded</a:t>
            </a:r>
            <a:r>
              <a:rPr lang="en-US"/>
              <a:t>, and </a:t>
            </a:r>
            <a:r>
              <a:rPr lang="en-US" err="1"/>
              <a:t>DateOfLastUpdate</a:t>
            </a:r>
            <a:r>
              <a:rPr lang="en-US"/>
              <a:t> were used in every table to enforce consistency.</a:t>
            </a:r>
          </a:p>
          <a:p>
            <a:r>
              <a:rPr lang="en-US"/>
              <a:t>Name-based UDTs (FirstName, LastName, </a:t>
            </a:r>
            <a:r>
              <a:rPr lang="en-US" err="1"/>
              <a:t>FullName</a:t>
            </a:r>
            <a:r>
              <a:rPr lang="en-US"/>
              <a:t>) were created after identifying inconsistent instructor name formatting in the source data.</a:t>
            </a:r>
          </a:p>
          <a:p>
            <a:r>
              <a:rPr lang="en-US"/>
              <a:t>Scheduling-related UDTs (</a:t>
            </a:r>
            <a:r>
              <a:rPr lang="en-US" err="1"/>
              <a:t>DayOfWeek</a:t>
            </a:r>
            <a:r>
              <a:rPr lang="en-US"/>
              <a:t>, </a:t>
            </a:r>
            <a:r>
              <a:rPr lang="en-US" err="1"/>
              <a:t>ClassTime</a:t>
            </a:r>
            <a:r>
              <a:rPr lang="en-US"/>
              <a:t>) were created due to inconsistent day and time values in the source table.</a:t>
            </a:r>
          </a:p>
          <a:p>
            <a:r>
              <a:rPr lang="en-US"/>
              <a:t>Numeric UDTs for </a:t>
            </a:r>
            <a:r>
              <a:rPr lang="en-US" err="1"/>
              <a:t>CreditHours</a:t>
            </a:r>
            <a:r>
              <a:rPr lang="en-US"/>
              <a:t>, </a:t>
            </a:r>
            <a:r>
              <a:rPr lang="en-US" err="1"/>
              <a:t>ContactHours</a:t>
            </a:r>
            <a:r>
              <a:rPr lang="en-US"/>
              <a:t>, and </a:t>
            </a:r>
            <a:r>
              <a:rPr lang="en-US" err="1"/>
              <a:t>EnrollmentCount</a:t>
            </a:r>
            <a:r>
              <a:rPr lang="en-US"/>
              <a:t> were adjusted to handle decimals and extreme values found in the source data.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577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54F0A3-CF1A-8806-1970-A8F1BEAF3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B5D8F-ECC5-9335-34DB-2AAF241B0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05" y="178469"/>
            <a:ext cx="10890929" cy="1097280"/>
          </a:xfrm>
        </p:spPr>
        <p:txBody>
          <a:bodyPr/>
          <a:lstStyle/>
          <a:p>
            <a:r>
              <a:rPr lang="en-US"/>
              <a:t>Tables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3BC20-CD6B-C19E-11E3-248DFCCDC1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06" y="1590736"/>
            <a:ext cx="10890928" cy="4608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Each table was created using a surrogate primary key defined by </a:t>
            </a:r>
            <a:r>
              <a:rPr lang="en-US" err="1"/>
              <a:t>SurrogateKeyInt</a:t>
            </a:r>
            <a:r>
              <a:rPr lang="en-US"/>
              <a:t>.</a:t>
            </a:r>
          </a:p>
          <a:p>
            <a:r>
              <a:rPr lang="en-US"/>
              <a:t>Surrogate keys were chosen to avoid reliance on unstable natural keys from the source data.</a:t>
            </a:r>
          </a:p>
          <a:p>
            <a:r>
              <a:rPr lang="en-US"/>
              <a:t>All tables include auditing columns: </a:t>
            </a:r>
            <a:r>
              <a:rPr lang="en-US" err="1"/>
              <a:t>DateAdded</a:t>
            </a:r>
            <a:r>
              <a:rPr lang="en-US"/>
              <a:t> and </a:t>
            </a:r>
            <a:r>
              <a:rPr lang="en-US" err="1"/>
              <a:t>DateOfLastUpdate</a:t>
            </a:r>
            <a:r>
              <a:rPr lang="en-US"/>
              <a:t>.</a:t>
            </a:r>
          </a:p>
          <a:p>
            <a:r>
              <a:rPr lang="en-US"/>
              <a:t>Unique constraints were added where appropriate to prevent duplicate logical records.</a:t>
            </a:r>
          </a:p>
          <a:p>
            <a:r>
              <a:rPr lang="en-US"/>
              <a:t>Check constraints were used to enforce business rules such as enrollment limits and valid credit hour ranges.</a:t>
            </a:r>
          </a:p>
          <a:p>
            <a:r>
              <a:rPr lang="en-US"/>
              <a:t>Persisted computed columns were used where required, such as Instructor </a:t>
            </a:r>
            <a:r>
              <a:rPr lang="en-US" err="1"/>
              <a:t>FullName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086683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AE3AD-8AE3-1DF1-21A3-9151804CA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6FE0F1-9FFA-E6CB-FE9A-52FCE9C54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05" y="178469"/>
            <a:ext cx="10890929" cy="1097280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1000"/>
              </a:spcBef>
            </a:pPr>
            <a:r>
              <a:rPr lang="en-US"/>
              <a:t>Course </a:t>
            </a:r>
            <a:r>
              <a:rPr lang="en-US" b="0"/>
              <a:t>Table Design</a:t>
            </a:r>
            <a:endParaRPr lang="en-US"/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ADE63-3301-55F8-CCFF-D1FE5A1148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06" y="1195965"/>
            <a:ext cx="10890928" cy="5003667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b="1">
                <a:ea typeface="+mn-lt"/>
                <a:cs typeface="+mn-lt"/>
              </a:rPr>
              <a:t>Problem:</a:t>
            </a:r>
            <a:r>
              <a:rPr lang="en-US">
                <a:ea typeface="+mn-lt"/>
                <a:cs typeface="+mn-lt"/>
              </a:rPr>
              <a:t> Source data was unnormalized and messy.</a:t>
            </a:r>
            <a:endParaRPr lang="en-US" b="1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Example: </a:t>
            </a:r>
            <a:r>
              <a:rPr lang="en-US">
                <a:latin typeface="Consolas"/>
                <a:ea typeface="+mn-lt"/>
                <a:cs typeface="+mn-lt"/>
              </a:rPr>
              <a:t>Course (</a:t>
            </a:r>
            <a:r>
              <a:rPr lang="en-US" err="1">
                <a:latin typeface="Consolas"/>
                <a:ea typeface="+mn-lt"/>
                <a:cs typeface="+mn-lt"/>
              </a:rPr>
              <a:t>hr</a:t>
            </a:r>
            <a:r>
              <a:rPr lang="en-US">
                <a:latin typeface="Consolas"/>
                <a:ea typeface="+mn-lt"/>
                <a:cs typeface="+mn-lt"/>
              </a:rPr>
              <a:t>, </a:t>
            </a:r>
            <a:r>
              <a:rPr lang="en-US" err="1">
                <a:latin typeface="Consolas"/>
                <a:ea typeface="+mn-lt"/>
                <a:cs typeface="+mn-lt"/>
              </a:rPr>
              <a:t>crd</a:t>
            </a:r>
            <a:r>
              <a:rPr lang="en-US">
                <a:latin typeface="Consolas"/>
                <a:ea typeface="+mn-lt"/>
                <a:cs typeface="+mn-lt"/>
              </a:rPr>
              <a:t>)</a:t>
            </a:r>
            <a:r>
              <a:rPr lang="en-US">
                <a:ea typeface="+mn-lt"/>
                <a:cs typeface="+mn-lt"/>
              </a:rPr>
              <a:t> column combined three data points into one string: </a:t>
            </a:r>
            <a:r>
              <a:rPr lang="en-US">
                <a:latin typeface="Consolas"/>
                <a:ea typeface="+mn-lt"/>
                <a:cs typeface="+mn-lt"/>
              </a:rPr>
              <a:t>"ANTH 101 (3,3)"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Issue: Impossible to query specific attributes like "Credits" or sort effectively by "Course Number."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Strict Typing:</a:t>
            </a:r>
            <a:r>
              <a:rPr lang="en-US">
                <a:ea typeface="+mn-lt"/>
                <a:cs typeface="+mn-lt"/>
              </a:rPr>
              <a:t> Uses User Defined Types (UDTs) like </a:t>
            </a:r>
            <a:r>
              <a:rPr lang="en-US" err="1">
                <a:latin typeface="Consolas"/>
                <a:ea typeface="+mn-lt"/>
                <a:cs typeface="+mn-lt"/>
              </a:rPr>
              <a:t>CreditHours</a:t>
            </a:r>
            <a:r>
              <a:rPr lang="en-US">
                <a:ea typeface="+mn-lt"/>
                <a:cs typeface="+mn-lt"/>
              </a:rPr>
              <a:t> and </a:t>
            </a:r>
            <a:r>
              <a:rPr lang="en-US" err="1">
                <a:latin typeface="Consolas"/>
                <a:ea typeface="+mn-lt"/>
                <a:cs typeface="+mn-lt"/>
              </a:rPr>
              <a:t>CourseNumber</a:t>
            </a:r>
            <a:r>
              <a:rPr lang="en-US">
                <a:ea typeface="+mn-lt"/>
                <a:cs typeface="+mn-lt"/>
              </a:rPr>
              <a:t> to enforce consistency across the schema.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Data Integrity:</a:t>
            </a:r>
            <a:r>
              <a:rPr lang="en-US">
                <a:ea typeface="+mn-lt"/>
                <a:cs typeface="+mn-lt"/>
              </a:rPr>
              <a:t> Implements </a:t>
            </a:r>
            <a:r>
              <a:rPr lang="en-US" b="1">
                <a:ea typeface="+mn-lt"/>
                <a:cs typeface="+mn-lt"/>
              </a:rPr>
              <a:t>Check Constraints</a:t>
            </a:r>
            <a:r>
              <a:rPr lang="en-US">
                <a:ea typeface="+mn-lt"/>
                <a:cs typeface="+mn-lt"/>
              </a:rPr>
              <a:t> to reject impossible data (e.g., Credits must be 0–6; Contact Hours must be 0–20).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Normalization (3NF):</a:t>
            </a:r>
            <a:r>
              <a:rPr lang="en-US">
                <a:ea typeface="+mn-lt"/>
                <a:cs typeface="+mn-lt"/>
              </a:rPr>
              <a:t> Stores </a:t>
            </a:r>
            <a:r>
              <a:rPr lang="en-US" err="1">
                <a:latin typeface="Consolas"/>
                <a:ea typeface="+mn-lt"/>
                <a:cs typeface="+mn-lt"/>
              </a:rPr>
              <a:t>DepartmentID</a:t>
            </a:r>
            <a:r>
              <a:rPr lang="en-US">
                <a:ea typeface="+mn-lt"/>
                <a:cs typeface="+mn-lt"/>
              </a:rPr>
              <a:t> rather than Department Name to eliminate redundancy.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Created separate fields for </a:t>
            </a:r>
            <a:r>
              <a:rPr lang="en-US" err="1">
                <a:latin typeface="Consolas"/>
              </a:rPr>
              <a:t>DepartmentID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latin typeface="Consolas"/>
              </a:rPr>
              <a:t>CourseNumber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latin typeface="Consolas"/>
              </a:rPr>
              <a:t>CreditHours</a:t>
            </a:r>
            <a:r>
              <a:rPr lang="en-US">
                <a:ea typeface="+mn-lt"/>
                <a:cs typeface="+mn-lt"/>
              </a:rPr>
              <a:t>, and </a:t>
            </a:r>
            <a:r>
              <a:rPr lang="en-US" err="1">
                <a:latin typeface="Consolas"/>
              </a:rPr>
              <a:t>ContactHours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6295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9C078-475F-6D3E-377C-8D554ECB4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E7489-8F99-866E-FC2C-4AC536888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05" y="178469"/>
            <a:ext cx="10890929" cy="1097280"/>
          </a:xfrm>
        </p:spPr>
        <p:txBody>
          <a:bodyPr/>
          <a:lstStyle/>
          <a:p>
            <a:r>
              <a:rPr lang="en-US"/>
              <a:t>Course </a:t>
            </a:r>
            <a:r>
              <a:rPr lang="en-US" b="0"/>
              <a:t>ETL Logic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A006D-8BFD-1698-254E-8C5A223D9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06" y="1195965"/>
            <a:ext cx="10890928" cy="50036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/>
          </a:p>
          <a:p>
            <a:r>
              <a:rPr lang="en-US">
                <a:ea typeface="+mn-lt"/>
                <a:cs typeface="+mn-lt"/>
              </a:rPr>
              <a:t>Uses </a:t>
            </a:r>
            <a:r>
              <a:rPr lang="en-US">
                <a:latin typeface="Consolas"/>
              </a:rPr>
              <a:t>SUBSTRING</a:t>
            </a:r>
            <a:r>
              <a:rPr lang="en-US">
                <a:ea typeface="+mn-lt"/>
                <a:cs typeface="+mn-lt"/>
              </a:rPr>
              <a:t> and </a:t>
            </a:r>
            <a:r>
              <a:rPr lang="en-US">
                <a:latin typeface="Consolas"/>
              </a:rPr>
              <a:t>CHARINDEX</a:t>
            </a:r>
            <a:r>
              <a:rPr lang="en-US">
                <a:ea typeface="+mn-lt"/>
                <a:cs typeface="+mn-lt"/>
              </a:rPr>
              <a:t> to split the raw format </a:t>
            </a:r>
            <a:r>
              <a:rPr lang="en-US">
                <a:latin typeface="Consolas"/>
              </a:rPr>
              <a:t>"ANTH 101 (3,3)"</a:t>
            </a:r>
            <a:r>
              <a:rPr lang="en-US">
                <a:ea typeface="+mn-lt"/>
                <a:cs typeface="+mn-lt"/>
              </a:rPr>
              <a:t> into atomic columns (Number, Credits, Hours).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Digital Signature:</a:t>
            </a:r>
            <a:r>
              <a:rPr lang="en-US">
                <a:ea typeface="+mn-lt"/>
                <a:cs typeface="+mn-lt"/>
              </a:rPr>
              <a:t> Every row includes a </a:t>
            </a:r>
            <a:r>
              <a:rPr lang="en-US" err="1">
                <a:latin typeface="Consolas"/>
              </a:rPr>
              <a:t>UserAuthorizationKey</a:t>
            </a:r>
            <a:r>
              <a:rPr lang="en-US">
                <a:ea typeface="+mn-lt"/>
                <a:cs typeface="+mn-lt"/>
              </a:rPr>
              <a:t> to track the source of the data.</a:t>
            </a:r>
            <a:endParaRPr lang="en-US"/>
          </a:p>
          <a:p>
            <a:r>
              <a:rPr lang="en-US" b="1">
                <a:ea typeface="+mn-lt"/>
                <a:cs typeface="+mn-lt"/>
              </a:rPr>
              <a:t>Time-Stamping:</a:t>
            </a:r>
            <a:r>
              <a:rPr lang="en-US">
                <a:ea typeface="+mn-lt"/>
                <a:cs typeface="+mn-lt"/>
              </a:rPr>
              <a:t> Automated tracking of data lifecycle .</a:t>
            </a:r>
            <a:endParaRPr lang="en-US"/>
          </a:p>
          <a:p>
            <a:r>
              <a:rPr lang="en-US" err="1">
                <a:latin typeface="Consolas"/>
              </a:rPr>
              <a:t>DateAdded</a:t>
            </a:r>
            <a:r>
              <a:rPr lang="en-US">
                <a:ea typeface="+mn-lt"/>
                <a:cs typeface="+mn-lt"/>
              </a:rPr>
              <a:t>: Records insertion time.</a:t>
            </a:r>
            <a:endParaRPr lang="en-US"/>
          </a:p>
          <a:p>
            <a:r>
              <a:rPr lang="en-US" err="1">
                <a:latin typeface="Consolas"/>
              </a:rPr>
              <a:t>DateOfLastUpdate</a:t>
            </a:r>
            <a:r>
              <a:rPr lang="en-US">
                <a:ea typeface="+mn-lt"/>
                <a:cs typeface="+mn-lt"/>
              </a:rPr>
              <a:t>: Tracks the most recent change.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634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0243F-164D-46DB-FC77-D34E8B9D7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389E4-4651-CBF9-4137-A137E54AB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05" y="178469"/>
            <a:ext cx="10890929" cy="1097280"/>
          </a:xfrm>
        </p:spPr>
        <p:txBody>
          <a:bodyPr/>
          <a:lstStyle/>
          <a:p>
            <a:r>
              <a:rPr lang="en-US"/>
              <a:t>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B6234-515C-76D8-F806-460236B84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06" y="1159243"/>
            <a:ext cx="10890928" cy="50403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The class table represents a single offering of a course in the current semester</a:t>
            </a:r>
          </a:p>
          <a:p>
            <a:r>
              <a:rPr lang="en-US"/>
              <a:t>It is separate from the course table </a:t>
            </a:r>
          </a:p>
          <a:p>
            <a:r>
              <a:rPr lang="en-US"/>
              <a:t>The table connects multiple parent entities (class cannot exist without)</a:t>
            </a:r>
            <a:br>
              <a:rPr lang="en-US"/>
            </a:br>
            <a:r>
              <a:rPr lang="en-US"/>
              <a:t> Course, Instructor, Room, </a:t>
            </a:r>
            <a:r>
              <a:rPr lang="en-US" err="1"/>
              <a:t>ModeOfInstruction</a:t>
            </a:r>
            <a:endParaRPr lang="en-US"/>
          </a:p>
          <a:p>
            <a:r>
              <a:rPr lang="en-US"/>
              <a:t>Each class row represents one section of a course</a:t>
            </a:r>
          </a:p>
          <a:p>
            <a:r>
              <a:rPr lang="en-US"/>
              <a:t>Data anomalies found: Some rows had </a:t>
            </a:r>
            <a:r>
              <a:rPr lang="en-US" err="1"/>
              <a:t>CurrentEnrolled</a:t>
            </a:r>
            <a:r>
              <a:rPr lang="en-US"/>
              <a:t> more than </a:t>
            </a:r>
            <a:r>
              <a:rPr lang="en-US" err="1"/>
              <a:t>EnrollmentLimit</a:t>
            </a:r>
            <a:r>
              <a:rPr lang="en-US"/>
              <a:t> </a:t>
            </a:r>
          </a:p>
          <a:p>
            <a:r>
              <a:rPr lang="en-US"/>
              <a:t>Instructor names contained single characters (-) </a:t>
            </a:r>
          </a:p>
          <a:p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3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C6B9F5-E95A-8592-EBE5-29C561211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06B946-2F81-0C92-0A57-1BA7F1EC6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05" y="178469"/>
            <a:ext cx="10890929" cy="1097280"/>
          </a:xfrm>
        </p:spPr>
        <p:txBody>
          <a:bodyPr/>
          <a:lstStyle/>
          <a:p>
            <a:r>
              <a:rPr lang="en-US" dirty="0"/>
              <a:t>Class Meeting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6AC0F7-B777-74E6-631E-372ED5E4A8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06" y="1278592"/>
            <a:ext cx="10890928" cy="4921040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>
                <a:ea typeface="+mn-lt"/>
                <a:cs typeface="+mn-lt"/>
              </a:rPr>
              <a:t>Problem in Source Data</a:t>
            </a:r>
            <a:endParaRPr lang="en-US"/>
          </a:p>
          <a:p>
            <a:r>
              <a:rPr lang="en-US">
                <a:latin typeface="Grandview Display"/>
              </a:rPr>
              <a:t>Day column</a:t>
            </a:r>
            <a:r>
              <a:rPr lang="en-US">
                <a:ea typeface="+mn-lt"/>
                <a:cs typeface="+mn-lt"/>
              </a:rPr>
              <a:t> contained multiple values (e.g.,</a:t>
            </a:r>
            <a:r>
              <a:rPr lang="en-US">
                <a:latin typeface="Grandview Display"/>
              </a:rPr>
              <a:t> M,</a:t>
            </a:r>
            <a:r>
              <a:rPr lang="en-US">
                <a:ea typeface="+mn-lt"/>
                <a:cs typeface="+mn-lt"/>
              </a:rPr>
              <a:t> </a:t>
            </a:r>
            <a:r>
              <a:rPr lang="en-US">
                <a:latin typeface="Grandview Display"/>
              </a:rPr>
              <a:t>W, T, TH)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Time column stored ranges as free-text strings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Some rows had missing or malformed values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Cleansing Actions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Split multi-day values into one row per </a:t>
            </a:r>
            <a:r>
              <a:rPr lang="en-US" err="1">
                <a:ea typeface="+mn-lt"/>
                <a:cs typeface="+mn-lt"/>
              </a:rPr>
              <a:t>DayOfWeek</a:t>
            </a:r>
            <a:r>
              <a:rPr lang="en-US">
                <a:ea typeface="+mn-lt"/>
                <a:cs typeface="+mn-lt"/>
              </a:rPr>
              <a:t> (1NF)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Standardized allowed day codes</a:t>
            </a:r>
            <a:r>
              <a:rPr lang="en-US" b="1">
                <a:ea typeface="+mn-lt"/>
                <a:cs typeface="+mn-lt"/>
              </a:rPr>
              <a:t>: </a:t>
            </a:r>
            <a:r>
              <a:rPr lang="en-US">
                <a:ea typeface="+mn-lt"/>
                <a:cs typeface="+mn-lt"/>
              </a:rPr>
              <a:t>M, T, W, TH, F, S, SU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Parsed time ranges into </a:t>
            </a:r>
            <a:r>
              <a:rPr lang="en-US" err="1">
                <a:ea typeface="+mn-lt"/>
                <a:cs typeface="+mn-lt"/>
              </a:rPr>
              <a:t>StartTime</a:t>
            </a:r>
            <a:r>
              <a:rPr lang="en-US">
                <a:ea typeface="+mn-lt"/>
                <a:cs typeface="+mn-lt"/>
              </a:rPr>
              <a:t> and </a:t>
            </a:r>
            <a:r>
              <a:rPr lang="en-US" err="1">
                <a:ea typeface="+mn-lt"/>
                <a:cs typeface="+mn-lt"/>
              </a:rPr>
              <a:t>EndTime</a:t>
            </a:r>
            <a:endParaRPr lang="en-US" err="1"/>
          </a:p>
          <a:p>
            <a:r>
              <a:rPr lang="en-US">
                <a:ea typeface="+mn-lt"/>
                <a:cs typeface="+mn-lt"/>
              </a:rPr>
              <a:t>Converted times to consistent HH:MM format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Result</a:t>
            </a:r>
            <a:endParaRPr lang="en-US"/>
          </a:p>
          <a:p>
            <a:r>
              <a:rPr lang="en-US">
                <a:ea typeface="+mn-lt"/>
                <a:cs typeface="+mn-lt"/>
              </a:rPr>
              <a:t>One </a:t>
            </a:r>
            <a:r>
              <a:rPr lang="en-US" err="1">
                <a:ea typeface="+mn-lt"/>
                <a:cs typeface="+mn-lt"/>
              </a:rPr>
              <a:t>ClassMeeting</a:t>
            </a:r>
            <a:r>
              <a:rPr lang="en-US">
                <a:ea typeface="+mn-lt"/>
                <a:cs typeface="+mn-lt"/>
              </a:rPr>
              <a:t> row represents one class, one day, one time interval</a:t>
            </a:r>
            <a:endParaRPr lang="en-US"/>
          </a:p>
          <a:p>
            <a:r>
              <a:rPr lang="en-US">
                <a:ea typeface="+mn-lt"/>
                <a:cs typeface="+mn-lt"/>
              </a:rPr>
              <a:t>Fully atomic and schedule-ready data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5118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75F66D-06ED-26B5-3EA1-A3BCC3688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C7E7F-5E76-336E-482E-FE1CBB863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05" y="178469"/>
            <a:ext cx="10890929" cy="1097280"/>
          </a:xfrm>
        </p:spPr>
        <p:txBody>
          <a:bodyPr/>
          <a:lstStyle/>
          <a:p>
            <a:r>
              <a:rPr lang="en-US" dirty="0"/>
              <a:t>Class Meeting (cont.)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2C611-DB06-E9A3-84C5-D14A93151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06" y="1278592"/>
            <a:ext cx="10890928" cy="4921040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US"/>
              <a:t>Validation Rules Applied</a:t>
            </a:r>
          </a:p>
          <a:p>
            <a:r>
              <a:rPr lang="en-US">
                <a:ea typeface="+mn-lt"/>
                <a:cs typeface="+mn-lt"/>
              </a:rPr>
              <a:t>Rejected rows with:</a:t>
            </a:r>
            <a:endParaRPr lang="en-US"/>
          </a:p>
          <a:p>
            <a:pPr marL="493395" lvl="1"/>
            <a:r>
              <a:rPr lang="en-US">
                <a:ea typeface="+mn-lt"/>
                <a:cs typeface="+mn-lt"/>
              </a:rPr>
              <a:t>NULL or malformed time values</a:t>
            </a:r>
            <a:endParaRPr lang="en-US"/>
          </a:p>
          <a:p>
            <a:pPr marL="493395" lvl="1"/>
            <a:r>
              <a:rPr lang="en-US">
                <a:ea typeface="+mn-lt"/>
                <a:cs typeface="+mn-lt"/>
              </a:rPr>
              <a:t>Missing day values</a:t>
            </a:r>
            <a:endParaRPr lang="en-US"/>
          </a:p>
          <a:p>
            <a:pPr marL="493395" lvl="1"/>
            <a:r>
              <a:rPr lang="en-US">
                <a:ea typeface="+mn-lt"/>
                <a:cs typeface="+mn-lt"/>
              </a:rPr>
              <a:t>Invalid time order (</a:t>
            </a:r>
            <a:r>
              <a:rPr lang="en-US" err="1">
                <a:ea typeface="+mn-lt"/>
                <a:cs typeface="+mn-lt"/>
              </a:rPr>
              <a:t>StartTime</a:t>
            </a:r>
            <a:r>
              <a:rPr lang="en-US">
                <a:ea typeface="+mn-lt"/>
                <a:cs typeface="+mn-lt"/>
              </a:rPr>
              <a:t> ≥ </a:t>
            </a:r>
            <a:r>
              <a:rPr lang="en-US" err="1">
                <a:ea typeface="+mn-lt"/>
                <a:cs typeface="+mn-lt"/>
              </a:rPr>
              <a:t>EndTime</a:t>
            </a:r>
            <a:r>
              <a:rPr lang="en-US">
                <a:ea typeface="+mn-lt"/>
                <a:cs typeface="+mn-lt"/>
              </a:rPr>
              <a:t>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Enforced domain constraints on </a:t>
            </a:r>
            <a:r>
              <a:rPr lang="en-US" err="1">
                <a:ea typeface="+mn-lt"/>
                <a:cs typeface="+mn-lt"/>
              </a:rPr>
              <a:t>DayOfWeek</a:t>
            </a:r>
            <a:endParaRPr lang="en-US" err="1"/>
          </a:p>
          <a:p>
            <a:r>
              <a:rPr lang="en-US">
                <a:ea typeface="+mn-lt"/>
                <a:cs typeface="+mn-lt"/>
              </a:rPr>
              <a:t>Data Integrity Guarantees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Meetings only loaded for valid parent Class records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Duplicate meetings prevented using natural meeting key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</a:t>
            </a:r>
            <a:r>
              <a:rPr lang="en-US" i="1">
                <a:ea typeface="+mn-lt"/>
                <a:cs typeface="+mn-lt"/>
              </a:rPr>
              <a:t>(ClassID + </a:t>
            </a:r>
            <a:r>
              <a:rPr lang="en-US" i="1" err="1">
                <a:ea typeface="+mn-lt"/>
                <a:cs typeface="+mn-lt"/>
              </a:rPr>
              <a:t>DayOfWeek</a:t>
            </a:r>
            <a:r>
              <a:rPr lang="en-US" i="1">
                <a:ea typeface="+mn-lt"/>
                <a:cs typeface="+mn-lt"/>
              </a:rPr>
              <a:t> + </a:t>
            </a:r>
            <a:r>
              <a:rPr lang="en-US" i="1" err="1">
                <a:ea typeface="+mn-lt"/>
                <a:cs typeface="+mn-lt"/>
              </a:rPr>
              <a:t>StartTime</a:t>
            </a:r>
            <a:r>
              <a:rPr lang="en-US" i="1">
                <a:ea typeface="+mn-lt"/>
                <a:cs typeface="+mn-lt"/>
              </a:rPr>
              <a:t> + </a:t>
            </a:r>
            <a:r>
              <a:rPr lang="en-US" i="1" err="1">
                <a:ea typeface="+mn-lt"/>
                <a:cs typeface="+mn-lt"/>
              </a:rPr>
              <a:t>EndTime</a:t>
            </a:r>
            <a:r>
              <a:rPr lang="en-US" i="1">
                <a:ea typeface="+mn-lt"/>
                <a:cs typeface="+mn-lt"/>
              </a:rPr>
              <a:t>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Operational Controls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Additive-only ETL (safe to rerun)</a:t>
            </a:r>
            <a:endParaRPr lang="en-US"/>
          </a:p>
          <a:p>
            <a:r>
              <a:rPr lang="en-US">
                <a:ea typeface="+mn-lt"/>
                <a:cs typeface="+mn-lt"/>
              </a:rPr>
              <a:t>Audit tracking via </a:t>
            </a:r>
            <a:r>
              <a:rPr lang="en-US" err="1">
                <a:ea typeface="+mn-lt"/>
                <a:cs typeface="+mn-lt"/>
              </a:rPr>
              <a:t>UserAuthorizationKey</a:t>
            </a:r>
            <a:endParaRPr lang="en-US" err="1"/>
          </a:p>
          <a:p>
            <a:r>
              <a:rPr lang="en-US">
                <a:ea typeface="+mn-lt"/>
                <a:cs typeface="+mn-lt"/>
              </a:rPr>
              <a:t>Timestamped load events logged to </a:t>
            </a:r>
            <a:r>
              <a:rPr lang="en-US" err="1">
                <a:ea typeface="+mn-lt"/>
                <a:cs typeface="+mn-lt"/>
              </a:rPr>
              <a:t>WorkflowSteps</a:t>
            </a:r>
            <a:endParaRPr lang="en-US" err="1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928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5D2303-369E-DCC1-6D7D-8C40EAF54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B1A14-EFC8-C5BF-211A-D4D8A5C9A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05" y="178469"/>
            <a:ext cx="10890929" cy="1097280"/>
          </a:xfrm>
        </p:spPr>
        <p:txBody>
          <a:bodyPr/>
          <a:lstStyle/>
          <a:p>
            <a:r>
              <a:rPr lang="en-US"/>
              <a:t>Department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91F53-3DCA-BBFF-D6DA-8F449B40F2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06" y="1590736"/>
            <a:ext cx="10890928" cy="4608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Obtained </a:t>
            </a:r>
            <a:r>
              <a:rPr lang="en-US" err="1">
                <a:latin typeface="Grandview Display"/>
                <a:ea typeface="+mn-lt"/>
                <a:cs typeface="+mn-lt"/>
              </a:rPr>
              <a:t>DepartmentCode</a:t>
            </a:r>
            <a:r>
              <a:rPr lang="en-US">
                <a:latin typeface="Grandview Display"/>
                <a:ea typeface="+mn-lt"/>
                <a:cs typeface="+mn-lt"/>
              </a:rPr>
              <a:t> from</a:t>
            </a:r>
            <a:r>
              <a:rPr lang="en-US">
                <a:ea typeface="+mn-lt"/>
                <a:cs typeface="+mn-lt"/>
              </a:rPr>
              <a:t> non-atomic </a:t>
            </a:r>
            <a:r>
              <a:rPr lang="en-US">
                <a:latin typeface="Grandview Display"/>
              </a:rPr>
              <a:t>field [Course (</a:t>
            </a:r>
            <a:r>
              <a:rPr lang="en-US" err="1">
                <a:latin typeface="Grandview Display"/>
              </a:rPr>
              <a:t>hr</a:t>
            </a:r>
            <a:r>
              <a:rPr lang="en-US">
                <a:latin typeface="Grandview Display"/>
              </a:rPr>
              <a:t>, </a:t>
            </a:r>
            <a:r>
              <a:rPr lang="en-US" err="1">
                <a:latin typeface="Grandview Display"/>
              </a:rPr>
              <a:t>crd</a:t>
            </a:r>
            <a:r>
              <a:rPr lang="en-US">
                <a:latin typeface="Grandview Display"/>
              </a:rPr>
              <a:t>)]</a:t>
            </a:r>
            <a:endParaRPr lang="en-US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Enforced formatting rule by requiring expected spacing pattern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Excluded NULL &amp; malformed source rows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Deduplicated department values during load</a:t>
            </a:r>
            <a:endParaRPr lang="en-US"/>
          </a:p>
          <a:p>
            <a:r>
              <a:rPr lang="en-US">
                <a:ea typeface="+mn-lt"/>
                <a:cs typeface="+mn-lt"/>
              </a:rPr>
              <a:t>Prevented destructive updates by using additive-only inserts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Maintained full audit trail via </a:t>
            </a:r>
            <a:r>
              <a:rPr lang="en-US" err="1">
                <a:ea typeface="+mn-lt"/>
                <a:cs typeface="+mn-lt"/>
              </a:rPr>
              <a:t>UserAuthenticationKey</a:t>
            </a:r>
            <a:r>
              <a:rPr lang="en-US">
                <a:ea typeface="+mn-lt"/>
                <a:cs typeface="+mn-lt"/>
              </a:rPr>
              <a:t> &amp; timestamps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Result:</a:t>
            </a:r>
            <a:br>
              <a:rPr lang="en-US">
                <a:ea typeface="+mn-lt"/>
                <a:cs typeface="+mn-lt"/>
              </a:rPr>
            </a:br>
            <a:r>
              <a:rPr lang="en-US">
                <a:ea typeface="+mn-lt"/>
                <a:cs typeface="+mn-lt"/>
              </a:rPr>
              <a:t> A clean, 3NF Department reference table derived from raw source data.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100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036F86-6CB5-1276-B31D-D7604197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8E19E-E65E-5C10-D007-521EDBA50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05" y="178469"/>
            <a:ext cx="10890929" cy="109728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Instructor</a:t>
            </a:r>
            <a:endParaRPr lang="en-US" b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9A573-235A-E109-9F71-69B591183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06" y="1590736"/>
            <a:ext cx="10890928" cy="4608896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>
              <a:buAutoNum type="arabicPeriod"/>
            </a:pPr>
            <a:r>
              <a:rPr lang="en-US" b="1">
                <a:ea typeface="+mn-lt"/>
                <a:cs typeface="+mn-lt"/>
              </a:rPr>
              <a:t>Instructor names were standardized into a consistent format</a:t>
            </a:r>
            <a:endParaRPr lang="en-US" b="1"/>
          </a:p>
          <a:p>
            <a:pPr marL="493395" lvl="1" indent="-342900">
              <a:buAutoNum type="arabicPeriod"/>
            </a:pPr>
            <a:r>
              <a:rPr lang="en-US" b="1">
                <a:ea typeface="+mn-lt"/>
                <a:cs typeface="+mn-lt"/>
              </a:rPr>
              <a:t>Source field: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latin typeface="Consolas"/>
                <a:ea typeface="+mn-lt"/>
                <a:cs typeface="+mn-lt"/>
              </a:rPr>
              <a:t>Uploadfile.CurrentSemesterCourseOfferings</a:t>
            </a:r>
            <a:r>
              <a:rPr lang="en-US">
                <a:latin typeface="Consolas"/>
                <a:ea typeface="+mn-lt"/>
                <a:cs typeface="+mn-lt"/>
              </a:rPr>
              <a:t>.[Instructor]</a:t>
            </a:r>
          </a:p>
          <a:p>
            <a:pPr marL="493395" lvl="1" indent="-342900">
              <a:buAutoNum type="arabicPeriod"/>
            </a:pPr>
            <a:r>
              <a:rPr lang="en-US" b="1">
                <a:ea typeface="+mn-lt"/>
                <a:cs typeface="+mn-lt"/>
              </a:rPr>
              <a:t>Target fields:</a:t>
            </a:r>
            <a:r>
              <a:rPr lang="en-US">
                <a:ea typeface="+mn-lt"/>
                <a:cs typeface="+mn-lt"/>
              </a:rPr>
              <a:t> </a:t>
            </a:r>
            <a:r>
              <a:rPr lang="en-US" err="1">
                <a:latin typeface="Consolas"/>
                <a:ea typeface="+mn-lt"/>
                <a:cs typeface="+mn-lt"/>
              </a:rPr>
              <a:t>Faculty.Instructor.FirstName</a:t>
            </a:r>
            <a:r>
              <a:rPr lang="en-US">
                <a:ea typeface="+mn-lt"/>
                <a:cs typeface="+mn-lt"/>
              </a:rPr>
              <a:t>, </a:t>
            </a:r>
            <a:r>
              <a:rPr lang="en-US">
                <a:latin typeface="Consolas"/>
                <a:ea typeface="+mn-lt"/>
                <a:cs typeface="+mn-lt"/>
              </a:rPr>
              <a:t>LastName</a:t>
            </a:r>
            <a:r>
              <a:rPr lang="en-US">
                <a:ea typeface="+mn-lt"/>
                <a:cs typeface="+mn-lt"/>
              </a:rPr>
              <a:t>, and computed </a:t>
            </a:r>
            <a:r>
              <a:rPr lang="en-US" err="1">
                <a:latin typeface="Consolas"/>
                <a:ea typeface="+mn-lt"/>
                <a:cs typeface="+mn-lt"/>
              </a:rPr>
              <a:t>FullName</a:t>
            </a:r>
            <a:endParaRPr lang="en-US" err="1"/>
          </a:p>
          <a:p>
            <a:pPr>
              <a:buAutoNum type="arabicPeriod"/>
            </a:pPr>
            <a:r>
              <a:rPr lang="en-US" b="1">
                <a:ea typeface="+mn-lt"/>
                <a:cs typeface="+mn-lt"/>
              </a:rPr>
              <a:t>Cleaning Logic:</a:t>
            </a:r>
          </a:p>
          <a:p>
            <a:pPr marL="493395" lvl="1" indent="-342900">
              <a:buAutoNum type="arabicPeriod"/>
            </a:pPr>
            <a:r>
              <a:rPr lang="en-US">
                <a:ea typeface="+mn-lt"/>
                <a:cs typeface="+mn-lt"/>
              </a:rPr>
              <a:t>Trims whitespace using LTRIM(RTRIM)</a:t>
            </a:r>
          </a:p>
          <a:p>
            <a:pPr marL="493395" lvl="1" indent="-342900">
              <a:buAutoNum type="arabicPeriod"/>
            </a:pPr>
            <a:r>
              <a:rPr lang="en-US">
                <a:ea typeface="+mn-lt"/>
                <a:cs typeface="+mn-lt"/>
              </a:rPr>
              <a:t>Assumes format: LastName, FirstName</a:t>
            </a:r>
            <a:endParaRPr lang="en-US"/>
          </a:p>
          <a:p>
            <a:pPr lvl="2"/>
            <a:r>
              <a:rPr lang="en-US" sz="1800">
                <a:ea typeface="+mn-lt"/>
                <a:cs typeface="+mn-lt"/>
              </a:rPr>
              <a:t>LastName = text before comma</a:t>
            </a:r>
          </a:p>
          <a:p>
            <a:pPr lvl="2"/>
            <a:r>
              <a:rPr lang="en-US" sz="1800">
                <a:ea typeface="+mn-lt"/>
                <a:cs typeface="+mn-lt"/>
              </a:rPr>
              <a:t>FirstName = text after comma</a:t>
            </a:r>
            <a:endParaRPr lang="en-US">
              <a:ea typeface="+mn-lt"/>
              <a:cs typeface="+mn-lt"/>
            </a:endParaRPr>
          </a:p>
          <a:p>
            <a:pPr lvl="2"/>
            <a:r>
              <a:rPr lang="en-US">
                <a:ea typeface="+mn-lt"/>
                <a:cs typeface="+mn-lt"/>
              </a:rPr>
              <a:t>Invalid values (NULL, empty, ',', no comma) → default to “Staff”</a:t>
            </a:r>
            <a:endParaRPr lang="en-US"/>
          </a:p>
          <a:p>
            <a:pPr>
              <a:buAutoNum type="arabicPeriod"/>
            </a:pPr>
            <a:r>
              <a:rPr lang="en-US" b="1">
                <a:ea typeface="+mn-lt"/>
                <a:cs typeface="+mn-lt"/>
              </a:rPr>
              <a:t>Builds standardized </a:t>
            </a:r>
            <a:r>
              <a:rPr lang="en-US" b="1" err="1">
                <a:ea typeface="+mn-lt"/>
                <a:cs typeface="+mn-lt"/>
              </a:rPr>
              <a:t>FullName</a:t>
            </a:r>
            <a:endParaRPr lang="en-US" b="1">
              <a:ea typeface="+mn-lt"/>
              <a:cs typeface="+mn-lt"/>
            </a:endParaRPr>
          </a:p>
          <a:p>
            <a:pPr marL="493395" lvl="1"/>
            <a:r>
              <a:rPr lang="en-US" sz="2000">
                <a:ea typeface="+mn-lt"/>
                <a:cs typeface="+mn-lt"/>
              </a:rPr>
              <a:t>Staff + Staff → Staff</a:t>
            </a:r>
          </a:p>
          <a:p>
            <a:pPr marL="493395" lvl="1"/>
            <a:r>
              <a:rPr lang="en-US" sz="2000">
                <a:ea typeface="+mn-lt"/>
                <a:cs typeface="+mn-lt"/>
              </a:rPr>
              <a:t>Else → LastName, FirstName</a:t>
            </a:r>
          </a:p>
          <a:p>
            <a:pPr>
              <a:buAutoNum type="arabicPeriod"/>
            </a:pPr>
            <a:r>
              <a:rPr lang="en-US" err="1">
                <a:ea typeface="+mn-lt"/>
                <a:cs typeface="+mn-lt"/>
              </a:rPr>
              <a:t>FullName</a:t>
            </a:r>
            <a:r>
              <a:rPr lang="en-US">
                <a:ea typeface="+mn-lt"/>
                <a:cs typeface="+mn-lt"/>
              </a:rPr>
              <a:t> is persisted for consistent reuse</a:t>
            </a:r>
            <a:endParaRPr lang="en-US"/>
          </a:p>
          <a:p>
            <a:pPr>
              <a:buAutoNum type="arabicPeriod"/>
            </a:pPr>
            <a:endParaRPr lang="en-US">
              <a:ea typeface="+mn-lt"/>
              <a:cs typeface="+mn-lt"/>
            </a:endParaRPr>
          </a:p>
          <a:p>
            <a:pPr>
              <a:buAutoNum type="arabicPeriod"/>
            </a:pPr>
            <a:endParaRPr lang="en-US">
              <a:ea typeface="+mn-lt"/>
              <a:cs typeface="+mn-lt"/>
            </a:endParaRPr>
          </a:p>
          <a:p>
            <a:pPr>
              <a:buAutoNum type="arabicPeriod"/>
            </a:pPr>
            <a:endParaRPr lang="en-US"/>
          </a:p>
          <a:p>
            <a:pPr marL="493395" lvl="1">
              <a:buAutoNum type="arabicPeriod"/>
            </a:pPr>
            <a:endParaRPr lang="en-US">
              <a:latin typeface="Consolas"/>
            </a:endParaRPr>
          </a:p>
          <a:p>
            <a:pPr marL="264795" lvl="1" indent="0">
              <a:buNone/>
            </a:pPr>
            <a:endParaRPr lang="en-US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2079058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C94C43-2277-0CB4-3ACA-C02E014F6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F45DC-0E45-F517-BBD2-F5C91D6A4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05" y="178469"/>
            <a:ext cx="10890929" cy="109728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Instructor</a:t>
            </a:r>
            <a:endParaRPr lang="en-US" b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ECFC0-D145-3D8A-21A1-AB1F80B9C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06" y="1590736"/>
            <a:ext cx="10890928" cy="4608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Deduplication Methods:</a:t>
            </a:r>
            <a:endParaRPr lang="en-US">
              <a:ea typeface="+mn-lt"/>
              <a:cs typeface="+mn-lt"/>
            </a:endParaRPr>
          </a:p>
          <a:p>
            <a:pPr marL="493395" lvl="1" indent="-342900">
              <a:buAutoNum type="arabicPeriod"/>
            </a:pPr>
            <a:r>
              <a:rPr lang="en-US">
                <a:ea typeface="+mn-lt"/>
                <a:cs typeface="+mn-lt"/>
              </a:rPr>
              <a:t>SELECT DISTINCT removes duplicates from source data</a:t>
            </a:r>
          </a:p>
          <a:p>
            <a:pPr marL="493395" lvl="1" indent="-342900">
              <a:buAutoNum type="arabicPeriod"/>
            </a:pPr>
            <a:r>
              <a:rPr lang="en-US">
                <a:ea typeface="+mn-lt"/>
                <a:cs typeface="+mn-lt"/>
              </a:rPr>
              <a:t>NOT EXISTS prevents re-inserting existing instructors</a:t>
            </a:r>
          </a:p>
          <a:p>
            <a:pPr marL="493395" lvl="1" indent="-342900">
              <a:buAutoNum type="arabicPeriod"/>
            </a:pPr>
            <a:r>
              <a:rPr lang="en-US">
                <a:ea typeface="+mn-lt"/>
                <a:cs typeface="+mn-lt"/>
              </a:rPr>
              <a:t>Matching key: (FirstName, LastName)</a:t>
            </a:r>
          </a:p>
          <a:p>
            <a:r>
              <a:rPr lang="en-US" b="1">
                <a:ea typeface="+mn-lt"/>
                <a:cs typeface="+mn-lt"/>
              </a:rPr>
              <a:t>Inference:</a:t>
            </a:r>
            <a:endParaRPr lang="en-US"/>
          </a:p>
          <a:p>
            <a:pPr marL="493395" lvl="1" indent="-342900">
              <a:buAutoNum type="arabicPeriod"/>
            </a:pPr>
            <a:r>
              <a:rPr lang="en-US">
                <a:ea typeface="+mn-lt"/>
                <a:cs typeface="+mn-lt"/>
              </a:rPr>
              <a:t>The ETL treats FirstName + LastName as the unique identifier for instructors.</a:t>
            </a:r>
          </a:p>
          <a:p>
            <a:pPr>
              <a:buAutoNum type="arabicPeriod"/>
            </a:pPr>
            <a:endParaRPr lang="en-US">
              <a:ea typeface="+mn-lt"/>
              <a:cs typeface="+mn-lt"/>
            </a:endParaRPr>
          </a:p>
          <a:p>
            <a:pPr>
              <a:buAutoNum type="arabicPeriod"/>
            </a:pPr>
            <a:endParaRPr lang="en-US">
              <a:ea typeface="+mn-lt"/>
              <a:cs typeface="+mn-lt"/>
            </a:endParaRPr>
          </a:p>
          <a:p>
            <a:pPr>
              <a:buAutoNum type="arabicPeriod"/>
            </a:pPr>
            <a:endParaRPr lang="en-US"/>
          </a:p>
          <a:p>
            <a:pPr marL="493395" lvl="1">
              <a:buAutoNum type="arabicPeriod"/>
            </a:pPr>
            <a:endParaRPr lang="en-US">
              <a:latin typeface="Consolas"/>
            </a:endParaRPr>
          </a:p>
          <a:p>
            <a:pPr marL="264795" lvl="1" indent="0">
              <a:buNone/>
            </a:pPr>
            <a:endParaRPr lang="en-US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40040364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1A5EE2-61EF-6B47-AE91-AA66E2E02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08C35-29B0-D3BD-A62B-7874E132C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05" y="178469"/>
            <a:ext cx="10890929" cy="1097280"/>
          </a:xfrm>
        </p:spPr>
        <p:txBody>
          <a:bodyPr/>
          <a:lstStyle/>
          <a:p>
            <a:r>
              <a:rPr lang="en-US" b="0" err="1">
                <a:ea typeface="+mj-lt"/>
                <a:cs typeface="+mj-lt"/>
              </a:rPr>
              <a:t>InstructorDepartment</a:t>
            </a:r>
            <a:r>
              <a:rPr lang="en-US" b="0">
                <a:ea typeface="+mj-lt"/>
                <a:cs typeface="+mj-lt"/>
              </a:rPr>
              <a:t> 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1835EC-D656-6C3E-CC41-9C07160A9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06" y="1590736"/>
            <a:ext cx="10890928" cy="4608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ea typeface="+mn-lt"/>
                <a:cs typeface="+mn-lt"/>
              </a:rPr>
              <a:t>Data Cleaning:</a:t>
            </a:r>
            <a:endParaRPr lang="en-US">
              <a:ea typeface="+mn-lt"/>
              <a:cs typeface="+mn-lt"/>
            </a:endParaRPr>
          </a:p>
          <a:p>
            <a:pPr marL="493395" lvl="1"/>
            <a:r>
              <a:rPr lang="en-US" sz="1700">
                <a:ea typeface="+mn-lt"/>
                <a:cs typeface="+mn-lt"/>
              </a:rPr>
              <a:t>Links Instructors to Departments</a:t>
            </a:r>
          </a:p>
          <a:p>
            <a:pPr marL="493395" lvl="1"/>
            <a:r>
              <a:rPr lang="en-US" sz="1700">
                <a:ea typeface="+mn-lt"/>
                <a:cs typeface="+mn-lt"/>
              </a:rPr>
              <a:t>Uses already-cleaned </a:t>
            </a:r>
            <a:r>
              <a:rPr lang="en-US" sz="1700" err="1">
                <a:ea typeface="+mn-lt"/>
                <a:cs typeface="+mn-lt"/>
              </a:rPr>
              <a:t>Instructor.FullName</a:t>
            </a:r>
            <a:endParaRPr lang="en-US" sz="1700">
              <a:ea typeface="+mn-lt"/>
              <a:cs typeface="+mn-lt"/>
            </a:endParaRPr>
          </a:p>
          <a:p>
            <a:pPr marL="493395" lvl="1"/>
            <a:r>
              <a:rPr lang="en-US" sz="1700">
                <a:ea typeface="+mn-lt"/>
                <a:cs typeface="+mn-lt"/>
              </a:rPr>
              <a:t>Invalid or missing instructor values default to “Staff”</a:t>
            </a:r>
          </a:p>
          <a:p>
            <a:pPr marL="493395" lvl="1"/>
            <a:r>
              <a:rPr lang="en-US" sz="1700">
                <a:ea typeface="+mn-lt"/>
                <a:cs typeface="+mn-lt"/>
              </a:rPr>
              <a:t>Department code extracted from course text</a:t>
            </a:r>
          </a:p>
          <a:p>
            <a:r>
              <a:rPr lang="en-US" sz="1800" b="1">
                <a:ea typeface="+mn-lt"/>
                <a:cs typeface="+mn-lt"/>
              </a:rPr>
              <a:t>Integrity &amp; Duplication</a:t>
            </a:r>
            <a:r>
              <a:rPr lang="en-US" b="1">
                <a:ea typeface="+mn-lt"/>
                <a:cs typeface="+mn-lt"/>
              </a:rPr>
              <a:t>:</a:t>
            </a:r>
          </a:p>
          <a:p>
            <a:pPr marL="493395" lvl="1"/>
            <a:r>
              <a:rPr lang="en-US">
                <a:ea typeface="+mn-lt"/>
                <a:cs typeface="+mn-lt"/>
              </a:rPr>
              <a:t>SELECT DISTINCT removes duplicate source rows</a:t>
            </a:r>
          </a:p>
          <a:p>
            <a:pPr marL="493395" lvl="1"/>
            <a:r>
              <a:rPr lang="en-US">
                <a:ea typeface="+mn-lt"/>
                <a:cs typeface="+mn-lt"/>
              </a:rPr>
              <a:t>NOT EXISTS prevents re-inserting existing relationships</a:t>
            </a:r>
          </a:p>
          <a:p>
            <a:pPr marL="493395" lvl="1"/>
            <a:r>
              <a:rPr lang="en-US">
                <a:ea typeface="+mn-lt"/>
                <a:cs typeface="+mn-lt"/>
              </a:rPr>
              <a:t>UNIQUE (</a:t>
            </a:r>
            <a:r>
              <a:rPr lang="en-US" err="1">
                <a:ea typeface="+mn-lt"/>
                <a:cs typeface="+mn-lt"/>
              </a:rPr>
              <a:t>InstructorID</a:t>
            </a:r>
            <a:r>
              <a:rPr lang="en-US">
                <a:ea typeface="+mn-lt"/>
                <a:cs typeface="+mn-lt"/>
              </a:rPr>
              <a:t>, </a:t>
            </a:r>
            <a:r>
              <a:rPr lang="en-US" err="1">
                <a:ea typeface="+mn-lt"/>
                <a:cs typeface="+mn-lt"/>
              </a:rPr>
              <a:t>DepartmentID</a:t>
            </a:r>
            <a:r>
              <a:rPr lang="en-US">
                <a:ea typeface="+mn-lt"/>
                <a:cs typeface="+mn-lt"/>
              </a:rPr>
              <a:t>) enforces integrity</a:t>
            </a:r>
          </a:p>
          <a:p>
            <a:pPr marL="493395" lvl="1"/>
            <a:r>
              <a:rPr lang="en-US">
                <a:ea typeface="+mn-lt"/>
                <a:cs typeface="+mn-lt"/>
              </a:rPr>
              <a:t>Supports many-to-many instructor–department relationship</a:t>
            </a:r>
          </a:p>
          <a:p>
            <a:pPr marL="493395" lvl="1"/>
            <a:endParaRPr lang="en-US">
              <a:ea typeface="+mn-lt"/>
              <a:cs typeface="+mn-lt"/>
            </a:endParaRPr>
          </a:p>
          <a:p>
            <a:pPr marL="493395" lvl="1"/>
            <a:endParaRPr lang="en-US"/>
          </a:p>
          <a:p>
            <a:pPr>
              <a:buAutoNum type="arabicPeriod"/>
            </a:pPr>
            <a:endParaRPr lang="en-US"/>
          </a:p>
          <a:p>
            <a:pPr>
              <a:buAutoNum type="arabicPeriod"/>
            </a:pPr>
            <a:endParaRPr lang="en-US">
              <a:ea typeface="+mn-lt"/>
              <a:cs typeface="+mn-lt"/>
            </a:endParaRPr>
          </a:p>
          <a:p>
            <a:pPr>
              <a:buAutoNum type="arabicPeriod"/>
            </a:pPr>
            <a:endParaRPr lang="en-US">
              <a:ea typeface="+mn-lt"/>
              <a:cs typeface="+mn-lt"/>
            </a:endParaRPr>
          </a:p>
          <a:p>
            <a:pPr marL="493395" lvl="1">
              <a:buAutoNum type="arabicPeriod"/>
            </a:pPr>
            <a:endParaRPr lang="en-US">
              <a:latin typeface="Consolas"/>
            </a:endParaRPr>
          </a:p>
          <a:p>
            <a:pPr marL="264795" lvl="1" indent="0">
              <a:buNone/>
            </a:pPr>
            <a:endParaRPr lang="en-US">
              <a:latin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39167226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34B2B3-84E5-00E4-6976-32F94AB1E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C1EAA-9724-DD6F-1F7C-1A18D1FBA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05" y="178469"/>
            <a:ext cx="10890929" cy="1097280"/>
          </a:xfrm>
        </p:spPr>
        <p:txBody>
          <a:bodyPr/>
          <a:lstStyle/>
          <a:p>
            <a:r>
              <a:rPr lang="en-US" err="1"/>
              <a:t>ModeofInstruction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7680C6-A9DC-6022-EDB6-07D87D027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06" y="1590736"/>
            <a:ext cx="10890928" cy="4608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Source column {Mode of Instruction } contained nulls, empty strings and inconsistent spacing</a:t>
            </a:r>
          </a:p>
          <a:p>
            <a:r>
              <a:rPr lang="en-US"/>
              <a:t>ETL logic trimmed whitespace using LTRIM / RTRIM</a:t>
            </a:r>
          </a:p>
          <a:p>
            <a:r>
              <a:rPr lang="en-US"/>
              <a:t>Empty or null values were standardized to a controlled default value</a:t>
            </a:r>
          </a:p>
          <a:p>
            <a:r>
              <a:rPr lang="en-US"/>
              <a:t>Select Distinct and unique constraint ensured no duplicate instruction modes</a:t>
            </a:r>
          </a:p>
          <a:p>
            <a:r>
              <a:rPr lang="en-US"/>
              <a:t>Data loaded into a reference ( lookup) table enforcing a controlled domain</a:t>
            </a:r>
          </a:p>
          <a:p>
            <a:r>
              <a:rPr lang="en-US"/>
              <a:t>Each load was logged using Workflow Steps capturing row counts execution time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5273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D6780D-7DCD-3908-B3FF-F356398A0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9E42B-9554-559C-4023-8260CC9DB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05" y="178469"/>
            <a:ext cx="10890929" cy="1097280"/>
          </a:xfrm>
        </p:spPr>
        <p:txBody>
          <a:bodyPr/>
          <a:lstStyle/>
          <a:p>
            <a:r>
              <a:rPr lang="en-US"/>
              <a:t>Building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314A87-BA3B-05AD-0FB2-167565353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06" y="1590736"/>
            <a:ext cx="10890928" cy="460889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1) What this table represents</a:t>
            </a:r>
          </a:p>
          <a:p>
            <a:r>
              <a:rPr lang="en-US">
                <a:ea typeface="+mn-lt"/>
                <a:cs typeface="+mn-lt"/>
              </a:rPr>
              <a:t>The Building table stores campus buildings using building codes (for example: KY)</a:t>
            </a:r>
          </a:p>
          <a:p>
            <a:r>
              <a:rPr lang="en-US">
                <a:ea typeface="+mn-lt"/>
                <a:cs typeface="+mn-lt"/>
              </a:rPr>
              <a:t>No building names were made up because the source data only provides codes</a:t>
            </a: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2) How data was cleaned</a:t>
            </a:r>
          </a:p>
          <a:p>
            <a:r>
              <a:rPr lang="en-US">
                <a:ea typeface="+mn-lt"/>
                <a:cs typeface="+mn-lt"/>
              </a:rPr>
              <a:t>Building codes are taken directly from the source and stored once to avoid duplicates</a:t>
            </a:r>
          </a:p>
          <a:p>
            <a:r>
              <a:rPr lang="en-US">
                <a:ea typeface="+mn-lt"/>
                <a:cs typeface="+mn-lt"/>
              </a:rPr>
              <a:t>Each building gets a primary key (</a:t>
            </a:r>
            <a:r>
              <a:rPr lang="en-US" err="1">
                <a:ea typeface="+mn-lt"/>
                <a:cs typeface="+mn-lt"/>
              </a:rPr>
              <a:t>BuildingID</a:t>
            </a:r>
            <a:r>
              <a:rPr lang="en-US">
                <a:ea typeface="+mn-lt"/>
                <a:cs typeface="+mn-lt"/>
              </a:rPr>
              <a:t>), which keeps joins clean and stable</a:t>
            </a:r>
          </a:p>
          <a:p>
            <a:r>
              <a:rPr lang="en-US" err="1">
                <a:ea typeface="+mn-lt"/>
                <a:cs typeface="+mn-lt"/>
              </a:rPr>
              <a:t>DateAdded</a:t>
            </a:r>
            <a:r>
              <a:rPr lang="en-US">
                <a:ea typeface="+mn-lt"/>
                <a:cs typeface="+mn-lt"/>
              </a:rPr>
              <a:t> and </a:t>
            </a:r>
            <a:r>
              <a:rPr lang="en-US" err="1">
                <a:ea typeface="+mn-lt"/>
                <a:cs typeface="+mn-lt"/>
              </a:rPr>
              <a:t>DateOfLastUpdate</a:t>
            </a:r>
            <a:r>
              <a:rPr lang="en-US">
                <a:ea typeface="+mn-lt"/>
                <a:cs typeface="+mn-lt"/>
              </a:rPr>
              <a:t> track when the record was created or changed</a:t>
            </a:r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3) Why this design</a:t>
            </a:r>
          </a:p>
          <a:p>
            <a:r>
              <a:rPr lang="en-US">
                <a:ea typeface="+mn-lt"/>
                <a:cs typeface="+mn-lt"/>
              </a:rPr>
              <a:t>Prevents repeating building codes across many rows</a:t>
            </a:r>
          </a:p>
          <a:p>
            <a:r>
              <a:rPr lang="en-US">
                <a:ea typeface="+mn-lt"/>
                <a:cs typeface="+mn-lt"/>
              </a:rPr>
              <a:t>Matches exactly what the source data provides</a:t>
            </a:r>
          </a:p>
          <a:p>
            <a:endParaRPr lang="en-US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617291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135E15-E1B1-D060-56D6-97D4A38A3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CDC42-C041-4185-5E84-CDF2E2C25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05" y="178469"/>
            <a:ext cx="10890929" cy="1097280"/>
          </a:xfrm>
        </p:spPr>
        <p:txBody>
          <a:bodyPr/>
          <a:lstStyle/>
          <a:p>
            <a:r>
              <a:rPr lang="en-US"/>
              <a:t>Room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AEB94-C83F-0635-53D3-2C5C47F99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06" y="1590736"/>
            <a:ext cx="10890928" cy="4608896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1) What this table represents</a:t>
            </a:r>
            <a:endParaRPr lang="en-US" b="1"/>
          </a:p>
          <a:p>
            <a:r>
              <a:rPr lang="en-US">
                <a:ea typeface="+mn-lt"/>
                <a:cs typeface="+mn-lt"/>
              </a:rPr>
              <a:t>The Room table represents individual rooms within a building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Each room belongs to one building using a foreign key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2) How data was cleaned</a:t>
            </a:r>
            <a:endParaRPr lang="en-US" b="1"/>
          </a:p>
          <a:p>
            <a:r>
              <a:rPr lang="en-US">
                <a:ea typeface="+mn-lt"/>
                <a:cs typeface="+mn-lt"/>
              </a:rPr>
              <a:t>Rooms are linked to buildings using </a:t>
            </a:r>
            <a:r>
              <a:rPr lang="en-US" err="1">
                <a:ea typeface="+mn-lt"/>
                <a:cs typeface="+mn-lt"/>
              </a:rPr>
              <a:t>BuildingID</a:t>
            </a:r>
            <a:r>
              <a:rPr lang="en-US">
                <a:ea typeface="+mn-lt"/>
                <a:cs typeface="+mn-lt"/>
              </a:rPr>
              <a:t> instead of repeating building codes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This removes redundancy and prevents mismatched building–room combinations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Dates are included to track changes</a:t>
            </a:r>
            <a:endParaRPr lang="en-US"/>
          </a:p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3) Why this design</a:t>
            </a:r>
            <a:endParaRPr lang="en-US" b="1"/>
          </a:p>
          <a:p>
            <a:r>
              <a:rPr lang="en-US">
                <a:ea typeface="+mn-lt"/>
                <a:cs typeface="+mn-lt"/>
              </a:rPr>
              <a:t>Enforces a clear Building to Room hierarchy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Makes it impossible to store a room without a valid building</a:t>
            </a:r>
            <a:endParaRPr lang="en-US"/>
          </a:p>
          <a:p>
            <a:r>
              <a:rPr lang="en-US">
                <a:ea typeface="+mn-lt"/>
                <a:cs typeface="+mn-lt"/>
              </a:rPr>
              <a:t>Makes location data easier to use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4341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74B30F-45E3-4A92-603B-4B0B2C991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FE95C-A309-396D-AD7A-55FF651DC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05" y="178469"/>
            <a:ext cx="10890929" cy="1097280"/>
          </a:xfrm>
        </p:spPr>
        <p:txBody>
          <a:bodyPr/>
          <a:lstStyle/>
          <a:p>
            <a:r>
              <a:rPr lang="en-US"/>
              <a:t>Propositions to Query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C4249-C4B1-1916-64C7-23BB43ED0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06" y="1352038"/>
            <a:ext cx="10890928" cy="48475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AutoNum type="arabicPeriod"/>
            </a:pPr>
            <a:r>
              <a:rPr lang="en-US">
                <a:ea typeface="+mn-lt"/>
                <a:cs typeface="+mn-lt"/>
              </a:rPr>
              <a:t>Instructors Teaching in Multiple Departments</a:t>
            </a:r>
          </a:p>
          <a:p>
            <a:pPr marL="457200" indent="-457200">
              <a:buAutoNum type="arabicPeriod"/>
            </a:pPr>
            <a:r>
              <a:rPr lang="en-US">
                <a:ea typeface="+mn-lt"/>
                <a:cs typeface="+mn-lt"/>
              </a:rPr>
              <a:t>Number of Instructors in Each Department</a:t>
            </a:r>
          </a:p>
          <a:p>
            <a:pPr marL="457200" indent="-457200">
              <a:buAutoNum type="arabicPeriod"/>
            </a:pPr>
            <a:r>
              <a:rPr lang="en-US">
                <a:ea typeface="+mn-lt"/>
                <a:cs typeface="+mn-lt"/>
              </a:rPr>
              <a:t>How may classes that are being taught that semester grouped by course and aggregating the total enrollment, total class limit and the percentage of enrollment.</a:t>
            </a:r>
          </a:p>
          <a:p>
            <a:pPr marL="457200" indent="-457200">
              <a:buAutoNum type="arabicPeriod"/>
            </a:pPr>
            <a:r>
              <a:rPr lang="en-US">
                <a:ea typeface="+mn-lt"/>
                <a:cs typeface="+mn-lt"/>
              </a:rPr>
              <a:t>Number of rooms per building</a:t>
            </a:r>
          </a:p>
          <a:p>
            <a:pPr marL="457200" indent="-457200">
              <a:buAutoNum type="arabicPeriod"/>
            </a:pPr>
            <a:r>
              <a:rPr lang="en-US">
                <a:ea typeface="+mn-lt"/>
                <a:cs typeface="+mn-lt"/>
              </a:rPr>
              <a:t>Which instructors teach the most classes</a:t>
            </a:r>
          </a:p>
          <a:p>
            <a:pPr marL="457200" indent="-457200">
              <a:buAutoNum type="arabicPeriod"/>
            </a:pPr>
            <a:r>
              <a:rPr lang="en-US">
                <a:ea typeface="+mn-lt"/>
                <a:cs typeface="+mn-lt"/>
              </a:rPr>
              <a:t>Which classes meet most frequently Classes can have multiple scheduled meetings, requiring a separate child table.</a:t>
            </a:r>
          </a:p>
          <a:p>
            <a:pPr marL="457200" indent="-457200">
              <a:buAutoNum type="arabicPeriod"/>
            </a:pPr>
            <a:r>
              <a:rPr lang="en-US">
                <a:ea typeface="+mn-lt"/>
                <a:cs typeface="+mn-lt"/>
              </a:rPr>
              <a:t>Which department has the highest enrollment</a:t>
            </a:r>
          </a:p>
          <a:p>
            <a:pPr marL="457200" indent="-457200">
              <a:buAutoNum type="arabicPeriod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0061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4E4DE0-9971-B823-AAAB-556A0EAA5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C5B8E-664B-743F-BC7F-AAE2E5B2F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05" y="178469"/>
            <a:ext cx="10890929" cy="1097280"/>
          </a:xfrm>
        </p:spPr>
        <p:txBody>
          <a:bodyPr/>
          <a:lstStyle/>
          <a:p>
            <a:r>
              <a:rPr lang="en-US"/>
              <a:t>Query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B35EC-3026-DC15-1685-59F208541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06" y="1590736"/>
            <a:ext cx="10890928" cy="4608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Query results showed consistent relationships across tables</a:t>
            </a:r>
          </a:p>
          <a:p>
            <a:r>
              <a:rPr lang="en-US"/>
              <a:t>Aggregations produced accurate totals and percentages</a:t>
            </a:r>
          </a:p>
          <a:p>
            <a:r>
              <a:rPr lang="en-US"/>
              <a:t>No orphans' records were present after foreign key enforcement</a:t>
            </a:r>
          </a:p>
          <a:p>
            <a:r>
              <a:rPr lang="en-US"/>
              <a:t>Results matched expected business logic</a:t>
            </a:r>
          </a:p>
          <a:p>
            <a:r>
              <a:rPr lang="en-US"/>
              <a:t>This confirmed that Normalization, constraints and ETL logic were successful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708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DED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22DBB4-D359-48EB-30EE-4A2C29CBB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A4764-73E5-FF33-2973-A0080AC70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105" y="178469"/>
            <a:ext cx="10890929" cy="1097280"/>
          </a:xfrm>
        </p:spPr>
        <p:txBody>
          <a:bodyPr/>
          <a:lstStyle/>
          <a:p>
            <a:r>
              <a:rPr lang="en-US"/>
              <a:t>Lessons Learned &amp; 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000B40-7DAA-6040-976D-EDDF97ABE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106" y="1590736"/>
            <a:ext cx="10890928" cy="46088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Proper database design requires understanding the data before writing SQL</a:t>
            </a:r>
          </a:p>
          <a:p>
            <a:r>
              <a:rPr lang="en-US"/>
              <a:t>Normalization significantly improves data quality and query reliability</a:t>
            </a:r>
          </a:p>
          <a:p>
            <a:r>
              <a:rPr lang="en-US"/>
              <a:t>Constraints and foreign keys are essential for enforcing business rules</a:t>
            </a:r>
          </a:p>
          <a:p>
            <a:r>
              <a:rPr lang="en-US"/>
              <a:t>ETL execution strategy impacts performance and maintainability</a:t>
            </a:r>
          </a:p>
          <a:p>
            <a:r>
              <a:rPr lang="en-US"/>
              <a:t>Separating deign load and validation phases leads to more robust system</a:t>
            </a:r>
          </a:p>
          <a:p>
            <a:r>
              <a:rPr lang="en-US"/>
              <a:t>This Project demonstrated how conceptual modeling translates into a working database</a:t>
            </a:r>
          </a:p>
        </p:txBody>
      </p:sp>
    </p:spTree>
    <p:extLst>
      <p:ext uri="{BB962C8B-B14F-4D97-AF65-F5344CB8AC3E}">
        <p14:creationId xmlns:p14="http://schemas.microsoft.com/office/powerpoint/2010/main" val="703198983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27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DashVTI</vt:lpstr>
      <vt:lpstr>Queens College Semester Course Database </vt:lpstr>
      <vt:lpstr>Project Objectives</vt:lpstr>
      <vt:lpstr>Analyzing Source Table</vt:lpstr>
      <vt:lpstr>Entity Identification</vt:lpstr>
      <vt:lpstr>Understanding Relationships</vt:lpstr>
      <vt:lpstr>Normalizing the Data 1NF</vt:lpstr>
      <vt:lpstr>Normalizing the Data 3NF</vt:lpstr>
      <vt:lpstr>Resolving Many to Many relationships</vt:lpstr>
      <vt:lpstr>PowerPoint Presentation</vt:lpstr>
      <vt:lpstr>Schema Organization  </vt:lpstr>
      <vt:lpstr>UDTs</vt:lpstr>
      <vt:lpstr>Tables</vt:lpstr>
      <vt:lpstr>Course Table Design </vt:lpstr>
      <vt:lpstr>Course ETL Logic</vt:lpstr>
      <vt:lpstr>Class</vt:lpstr>
      <vt:lpstr>Class Meeting</vt:lpstr>
      <vt:lpstr>Class Meeting (cont.)</vt:lpstr>
      <vt:lpstr>Department</vt:lpstr>
      <vt:lpstr>Instructor</vt:lpstr>
      <vt:lpstr>Instructor</vt:lpstr>
      <vt:lpstr>InstructorDepartment </vt:lpstr>
      <vt:lpstr>ModeofInstruction</vt:lpstr>
      <vt:lpstr>Building</vt:lpstr>
      <vt:lpstr>Room</vt:lpstr>
      <vt:lpstr>Propositions to Query</vt:lpstr>
      <vt:lpstr>Query Results</vt:lpstr>
      <vt:lpstr>Lessons Learned &amp; 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13</cp:revision>
  <dcterms:created xsi:type="dcterms:W3CDTF">2025-12-13T21:29:40Z</dcterms:created>
  <dcterms:modified xsi:type="dcterms:W3CDTF">2025-12-15T06:12:12Z</dcterms:modified>
</cp:coreProperties>
</file>